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6"/>
  </p:notesMasterIdLst>
  <p:handoutMasterIdLst>
    <p:handoutMasterId r:id="rId7"/>
  </p:handoutMasterIdLst>
  <p:sldIdLst>
    <p:sldId id="522" r:id="rId2"/>
    <p:sldId id="523" r:id="rId3"/>
    <p:sldId id="524" r:id="rId4"/>
    <p:sldId id="525" r:id="rId5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9FBFD"/>
    <a:srgbClr val="E5E9EF"/>
    <a:srgbClr val="253865"/>
    <a:srgbClr val="BDD7EE"/>
    <a:srgbClr val="CCCCCC"/>
    <a:srgbClr val="2E406B"/>
    <a:srgbClr val="D6DCE5"/>
    <a:srgbClr val="F9F9F9"/>
    <a:srgbClr val="F0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23" autoAdjust="0"/>
    <p:restoredTop sz="96408" autoAdjust="0"/>
  </p:normalViewPr>
  <p:slideViewPr>
    <p:cSldViewPr>
      <p:cViewPr>
        <p:scale>
          <a:sx n="100" d="100"/>
          <a:sy n="100" d="100"/>
        </p:scale>
        <p:origin x="644" y="512"/>
      </p:cViewPr>
      <p:guideLst>
        <p:guide orient="horz" pos="62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3925"/>
    </p:cViewPr>
  </p:sorterViewPr>
  <p:notesViewPr>
    <p:cSldViewPr showGuides="1">
      <p:cViewPr varScale="1">
        <p:scale>
          <a:sx n="118" d="100"/>
          <a:sy n="118" d="100"/>
        </p:scale>
        <p:origin x="50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A512C-801C-4C41-9C94-2A34471BB050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AD00D-9267-4F61-B173-7A93DD1592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1815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2D42D-7303-4AC9-BD56-FE82C75A44E7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BBA20-2902-469F-999A-33F3CCD7F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94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각 삼각형 4"/>
          <p:cNvSpPr/>
          <p:nvPr userDrawn="1"/>
        </p:nvSpPr>
        <p:spPr>
          <a:xfrm rot="10800000" flipH="1">
            <a:off x="0" y="0"/>
            <a:ext cx="6769063" cy="1832653"/>
          </a:xfrm>
          <a:prstGeom prst="rtTriangl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46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72770"/>
            <a:ext cx="5207828" cy="1573108"/>
          </a:xfrm>
        </p:spPr>
        <p:txBody>
          <a:bodyPr anchor="b">
            <a:normAutofit/>
          </a:bodyPr>
          <a:lstStyle>
            <a:lvl1pPr algn="l">
              <a:defRPr sz="2769" b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6305150"/>
            <a:ext cx="5143500" cy="2391656"/>
          </a:xfrm>
        </p:spPr>
        <p:txBody>
          <a:bodyPr>
            <a:normAutofit/>
          </a:bodyPr>
          <a:lstStyle>
            <a:lvl1pPr marL="0" indent="0" algn="l">
              <a:buNone/>
              <a:defRPr sz="1385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lvl1pPr>
            <a:lvl2pPr marL="316520" indent="0" algn="ctr">
              <a:buNone/>
              <a:defRPr sz="1385"/>
            </a:lvl2pPr>
            <a:lvl3pPr marL="633039" indent="0" algn="ctr">
              <a:buNone/>
              <a:defRPr sz="1246"/>
            </a:lvl3pPr>
            <a:lvl4pPr marL="949559" indent="0" algn="ctr">
              <a:buNone/>
              <a:defRPr sz="1108"/>
            </a:lvl4pPr>
            <a:lvl5pPr marL="1266078" indent="0" algn="ctr">
              <a:buNone/>
              <a:defRPr sz="1108"/>
            </a:lvl5pPr>
            <a:lvl6pPr marL="1582598" indent="0" algn="ctr">
              <a:buNone/>
              <a:defRPr sz="1108"/>
            </a:lvl6pPr>
            <a:lvl7pPr marL="1899117" indent="0" algn="ctr">
              <a:buNone/>
              <a:defRPr sz="1108"/>
            </a:lvl7pPr>
            <a:lvl8pPr marL="2215637" indent="0" algn="ctr">
              <a:buNone/>
              <a:defRPr sz="1108"/>
            </a:lvl8pPr>
            <a:lvl9pPr marL="2532156" indent="0" algn="ctr">
              <a:buNone/>
              <a:defRPr sz="1108"/>
            </a:lvl9pPr>
          </a:lstStyle>
          <a:p>
            <a:r>
              <a:rPr lang="en-US" altLang="ko-KR" dirty="0"/>
              <a:t>2025. 00. 00</a:t>
            </a:r>
          </a:p>
          <a:p>
            <a:r>
              <a:rPr lang="ko-KR" altLang="en-US" dirty="0"/>
              <a:t>산업기계</a:t>
            </a:r>
            <a:r>
              <a:rPr lang="en-US" altLang="ko-KR" dirty="0"/>
              <a:t>DX </a:t>
            </a:r>
            <a:r>
              <a:rPr lang="en-US" dirty="0"/>
              <a:t>000 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216" y="272481"/>
            <a:ext cx="1385081" cy="54823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AF2BBC-0DCB-BB98-76C2-04D693EB0F82}"/>
              </a:ext>
            </a:extLst>
          </p:cNvPr>
          <p:cNvSpPr/>
          <p:nvPr userDrawn="1"/>
        </p:nvSpPr>
        <p:spPr>
          <a:xfrm>
            <a:off x="687157" y="6305151"/>
            <a:ext cx="31652" cy="239165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46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F6C72F-294E-60E7-D841-4D9EA9AFE1DF}"/>
              </a:ext>
            </a:extLst>
          </p:cNvPr>
          <p:cNvSpPr/>
          <p:nvPr userDrawn="1"/>
        </p:nvSpPr>
        <p:spPr>
          <a:xfrm>
            <a:off x="0" y="0"/>
            <a:ext cx="6858000" cy="9558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46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D2727389-C247-F52C-FDE9-F0D2F08702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4669502"/>
            <a:ext cx="5207828" cy="623711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6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55959" y="9555579"/>
            <a:ext cx="4719036" cy="177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54" b="0">
                <a:solidFill>
                  <a:schemeClr val="bg1">
                    <a:lumMod val="65000"/>
                  </a:schemeClr>
                </a:solidFill>
                <a:latin typeface="+mn-lt"/>
                <a:cs typeface="Vrinda" panose="020B0502040204020203" pitchFamily="34" charset="0"/>
              </a:rPr>
              <a:t>Copyright</a:t>
            </a:r>
            <a:r>
              <a:rPr lang="en-US" altLang="ko-KR" sz="554" b="0" baseline="0">
                <a:solidFill>
                  <a:schemeClr val="bg1">
                    <a:lumMod val="65000"/>
                  </a:schemeClr>
                </a:solidFill>
                <a:latin typeface="+mn-lt"/>
                <a:cs typeface="Vrinda" panose="020B0502040204020203" pitchFamily="34" charset="0"/>
              </a:rPr>
              <a:t> 2026. </a:t>
            </a:r>
            <a:r>
              <a:rPr lang="en-US" altLang="ko-KR" sz="554" b="0" baseline="0" dirty="0">
                <a:solidFill>
                  <a:schemeClr val="bg1">
                    <a:lumMod val="65000"/>
                  </a:schemeClr>
                </a:solidFill>
                <a:latin typeface="+mn-lt"/>
                <a:cs typeface="Vrinda" panose="020B0502040204020203" pitchFamily="34" charset="0"/>
              </a:rPr>
              <a:t>KIMM (Korea Institute of Machinery &amp; Materials). All pictures cannot be copied without permission.</a:t>
            </a:r>
            <a:endParaRPr lang="ko-KR" altLang="en-US" sz="554" b="0" dirty="0">
              <a:solidFill>
                <a:schemeClr val="bg1">
                  <a:lumMod val="65000"/>
                </a:schemeClr>
              </a:solidFill>
              <a:latin typeface="+mn-lt"/>
              <a:cs typeface="Vrind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85198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6858000" cy="9558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46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225928" y="9533836"/>
            <a:ext cx="1543050" cy="334967"/>
          </a:xfrm>
          <a:prstGeom prst="rect">
            <a:avLst/>
          </a:prstGeom>
        </p:spPr>
        <p:txBody>
          <a:bodyPr/>
          <a:lstStyle>
            <a:lvl1pPr algn="r">
              <a:defRPr sz="623" i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95" y="223181"/>
            <a:ext cx="6178052" cy="777381"/>
          </a:xfrm>
        </p:spPr>
        <p:txBody>
          <a:bodyPr anchor="ctr">
            <a:normAutofit/>
          </a:bodyPr>
          <a:lstStyle>
            <a:lvl1pPr>
              <a:defRPr sz="1938" b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ADE512-4468-1409-6A09-3B7E4D38EA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13"/>
          <a:stretch/>
        </p:blipFill>
        <p:spPr>
          <a:xfrm>
            <a:off x="6366778" y="337751"/>
            <a:ext cx="398728" cy="548237"/>
          </a:xfrm>
          <a:prstGeom prst="rect">
            <a:avLst/>
          </a:prstGeom>
        </p:spPr>
      </p:pic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E9C39DD-960B-7A9B-F4FE-9EEEB7CED6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22" y="1312597"/>
            <a:ext cx="6578099" cy="548237"/>
          </a:xfrm>
        </p:spPr>
        <p:txBody>
          <a:bodyPr vert="horz" wrap="none" lIns="91440" tIns="45720" rIns="91440" bIns="45720" rtlCol="0">
            <a:noAutofit/>
          </a:bodyPr>
          <a:lstStyle>
            <a:lvl1pPr marL="158260" indent="-158260"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1246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250578" indent="-250578"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1108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2pPr>
            <a:lvl3pPr marL="197825" indent="-197825"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969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3pPr>
            <a:lvl4pPr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831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4pPr>
            <a:lvl5pPr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83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5pPr>
          </a:lstStyle>
          <a:p>
            <a:pPr marL="126388" lvl="0" indent="-126388"/>
            <a:r>
              <a:rPr lang="ko-KR" altLang="en-US" dirty="0"/>
              <a:t>마스터 텍스트 스타일을 편집하려면 클릭</a:t>
            </a:r>
          </a:p>
          <a:p>
            <a:pPr marL="126388" lvl="1" indent="-126388"/>
            <a:r>
              <a:rPr lang="ko-KR" altLang="en-US" dirty="0"/>
              <a:t>두 번째 수준</a:t>
            </a:r>
          </a:p>
          <a:p>
            <a:pPr marL="126388" lvl="2" indent="-126388"/>
            <a:r>
              <a:rPr lang="ko-KR" altLang="en-US" dirty="0"/>
              <a:t>세 번째 수준</a:t>
            </a:r>
          </a:p>
          <a:p>
            <a:pPr marL="126388" lvl="3" indent="-126388"/>
            <a:r>
              <a:rPr lang="ko-KR" altLang="en-US" dirty="0"/>
              <a:t>네 번째 수준</a:t>
            </a:r>
          </a:p>
          <a:p>
            <a:pPr marL="126388" lvl="4" indent="-126388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7934752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  <p15:guide id="3" pos="87" userDrawn="1">
          <p15:clr>
            <a:srgbClr val="FBAE40"/>
          </p15:clr>
        </p15:guide>
        <p15:guide id="4" pos="423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6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8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74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l" defTabSz="633039" rtl="0" eaLnBrk="1" latinLnBrk="1" hangingPunct="1">
        <a:lnSpc>
          <a:spcPct val="90000"/>
        </a:lnSpc>
        <a:spcBef>
          <a:spcPct val="0"/>
        </a:spcBef>
        <a:buNone/>
        <a:defRPr sz="30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260" indent="-158260" algn="l" defTabSz="633039" rtl="0" eaLnBrk="1" latinLnBrk="1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1938" kern="1200">
          <a:solidFill>
            <a:schemeClr val="tx1"/>
          </a:solidFill>
          <a:latin typeface="+mn-lt"/>
          <a:ea typeface="+mn-ea"/>
          <a:cs typeface="+mn-cs"/>
        </a:defRPr>
      </a:lvl1pPr>
      <a:lvl2pPr marL="474779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791299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107818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424338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740858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7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373897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690416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1pPr>
      <a:lvl2pPr marL="316520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2pPr>
      <a:lvl3pPr marL="633039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3pPr>
      <a:lvl4pPr marL="949559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266078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582598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1899117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215637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532156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4970D36-58DE-4F1A-8CE6-6EBAC1F5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0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6A47728-36C9-4D36-A89A-80032A7D7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 4. </a:t>
            </a:r>
            <a:r>
              <a:rPr lang="ko-KR" altLang="en-US"/>
              <a:t>설계 프로세스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74609E-9EA1-4AFD-9604-1567F92707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22" y="948379"/>
            <a:ext cx="6578099" cy="334967"/>
          </a:xfrm>
        </p:spPr>
        <p:txBody>
          <a:bodyPr anchor="ctr"/>
          <a:lstStyle/>
          <a:p>
            <a:r>
              <a:rPr lang="en-US" altLang="ko-KR"/>
              <a:t>RT-4 </a:t>
            </a:r>
            <a:r>
              <a:rPr lang="ko-KR" altLang="en-US"/>
              <a:t>베어링 설계자료 </a:t>
            </a:r>
            <a:r>
              <a:rPr lang="en-US" altLang="ko-KR"/>
              <a:t>(</a:t>
            </a:r>
            <a:r>
              <a:rPr lang="ko-KR" altLang="en-US"/>
              <a:t>최종보고서 </a:t>
            </a:r>
            <a:r>
              <a:rPr lang="en-US" altLang="ko-KR"/>
              <a:t>P. 494)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1ECA1B-C1E8-4890-BD0F-457AE31D6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79" y="1588279"/>
            <a:ext cx="4235507" cy="119580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373AF60-D407-4486-A682-D6C787428A1D}"/>
              </a:ext>
            </a:extLst>
          </p:cNvPr>
          <p:cNvSpPr/>
          <p:nvPr/>
        </p:nvSpPr>
        <p:spPr>
          <a:xfrm>
            <a:off x="240378" y="1280592"/>
            <a:ext cx="2241440" cy="284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46">
                <a:ea typeface="KoPubWorld돋움체 Bold" panose="00000800000000000000" pitchFamily="2" charset="-127"/>
              </a:rPr>
              <a:t>- </a:t>
            </a:r>
            <a:r>
              <a:rPr lang="ko-KR" altLang="en-US" sz="1246">
                <a:ea typeface="KoPubWorld돋움체 Bold" panose="00000800000000000000" pitchFamily="2" charset="-127"/>
              </a:rPr>
              <a:t>단계별 최적설계 </a:t>
            </a:r>
            <a:r>
              <a:rPr lang="en-US" altLang="ko-KR" sz="1246">
                <a:ea typeface="KoPubWorld돋움체 Bold" panose="00000800000000000000" pitchFamily="2" charset="-127"/>
              </a:rPr>
              <a:t>-</a:t>
            </a:r>
            <a:r>
              <a:rPr lang="ko-KR" altLang="en-US" sz="1246">
                <a:ea typeface="KoPubWorld돋움체 Bold" panose="00000800000000000000" pitchFamily="2" charset="-127"/>
              </a:rPr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F6F10A-ABB2-4474-B6E2-15B7DBE63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78" y="2904997"/>
            <a:ext cx="3486175" cy="202570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7C4D8FE-195D-49EC-A640-4A732675F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267" y="2904997"/>
            <a:ext cx="2770356" cy="185457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6034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051D92-D4FE-4C75-8CB5-5A68E790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1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E32E61-BAA0-4AD3-814E-7108D11D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 4. </a:t>
            </a:r>
            <a:r>
              <a:rPr lang="ko-KR" altLang="en-US"/>
              <a:t>설계 프로세스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A0FBE0-584B-408D-86CB-7849018CE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5" y="1280592"/>
            <a:ext cx="3250875" cy="357036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7052E92-0B0C-4FF3-BDB6-5D9FF319B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632" y="1280592"/>
            <a:ext cx="2566035" cy="357036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8723D726-D8EC-4C05-A77D-0997D5FB37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22" y="948379"/>
            <a:ext cx="6578099" cy="334967"/>
          </a:xfrm>
        </p:spPr>
        <p:txBody>
          <a:bodyPr anchor="ctr"/>
          <a:lstStyle/>
          <a:p>
            <a:r>
              <a:rPr lang="en-US" altLang="ko-KR"/>
              <a:t>RT-4 </a:t>
            </a:r>
            <a:r>
              <a:rPr lang="ko-KR" altLang="en-US"/>
              <a:t>베어링 설계자료 </a:t>
            </a:r>
            <a:r>
              <a:rPr lang="en-US" altLang="ko-KR"/>
              <a:t>(</a:t>
            </a:r>
            <a:r>
              <a:rPr lang="ko-KR" altLang="en-US"/>
              <a:t>최종보고서 </a:t>
            </a:r>
            <a:r>
              <a:rPr lang="en-US" altLang="ko-KR"/>
              <a:t>P. 508)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071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051D92-D4FE-4C75-8CB5-5A68E790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2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E32E61-BAA0-4AD3-814E-7108D11D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 4. </a:t>
            </a:r>
            <a:r>
              <a:rPr lang="ko-KR" altLang="en-US"/>
              <a:t>설계 프로세스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DE0E9F22-F67A-4FA0-9F1E-35C6EFC88E7B}"/>
              </a:ext>
            </a:extLst>
          </p:cNvPr>
          <p:cNvSpPr txBox="1">
            <a:spLocks/>
          </p:cNvSpPr>
          <p:nvPr/>
        </p:nvSpPr>
        <p:spPr>
          <a:xfrm>
            <a:off x="141422" y="948379"/>
            <a:ext cx="6578099" cy="33496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158260" indent="-158260" algn="l" defTabSz="633039" rtl="0" eaLnBrk="1" latinLnBrk="1" hangingPunct="1">
              <a:lnSpc>
                <a:spcPct val="120000"/>
              </a:lnSpc>
              <a:spcBef>
                <a:spcPts val="692"/>
              </a:spcBef>
              <a:buFont typeface="Wingdings" panose="05000000000000000000" pitchFamily="2" charset="2"/>
              <a:buChar char="§"/>
              <a:defRPr lang="ko-KR" altLang="en-US" sz="1246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250578" indent="-250578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1108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2pPr>
            <a:lvl3pPr marL="197825" indent="-197825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969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3pPr>
            <a:lvl4pPr marL="1107818" indent="-158260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831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4pPr>
            <a:lvl5pPr marL="1424338" indent="-158260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831" kern="12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5pPr>
            <a:lvl6pPr marL="1740858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77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73897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90416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메인샤프트 및 메인베어링 설계 정리 </a:t>
            </a:r>
            <a:r>
              <a:rPr lang="en-US" altLang="ko-KR"/>
              <a:t>#1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46FDF3-87B8-4537-B9E9-A8AA6CF584DF}"/>
              </a:ext>
            </a:extLst>
          </p:cNvPr>
          <p:cNvSpPr/>
          <p:nvPr/>
        </p:nvSpPr>
        <p:spPr>
          <a:xfrm>
            <a:off x="232463" y="1435412"/>
            <a:ext cx="6393075" cy="67567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>
                <a:latin typeface="+mn-ea"/>
              </a:rPr>
              <a:t>기본샤양 설계</a:t>
            </a:r>
            <a:endParaRPr lang="en-US" altLang="ko-KR" sz="1000" b="1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+mn-ea"/>
              </a:rPr>
              <a:t>드라이브트레인 레이아웃</a:t>
            </a:r>
            <a:endParaRPr lang="en-US" altLang="ko-KR" sz="1000">
              <a:solidFill>
                <a:srgbClr val="0000FF"/>
              </a:solidFill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발전기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>
                <a:latin typeface="+mn-ea"/>
              </a:rPr>
              <a:t>허브 인터페이스를 고려한 레이아웃 결정 필요</a:t>
            </a:r>
            <a:endParaRPr lang="en-US" altLang="ko-KR" sz="1000"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작년 </a:t>
            </a:r>
            <a:r>
              <a:rPr lang="en-US" altLang="ko-KR" sz="1000">
                <a:latin typeface="+mn-ea"/>
              </a:rPr>
              <a:t>10</a:t>
            </a:r>
            <a:r>
              <a:rPr lang="ko-KR" altLang="en-US" sz="1000">
                <a:latin typeface="+mn-ea"/>
              </a:rPr>
              <a:t>월 회의에서 </a:t>
            </a:r>
            <a:r>
              <a:rPr lang="ko-KR" altLang="en-US" sz="1000" u="sng">
                <a:latin typeface="+mn-ea"/>
              </a:rPr>
              <a:t>증속기가 장착된 베어링 내륜 회전 레이아웃</a:t>
            </a:r>
            <a:r>
              <a:rPr lang="ko-KR" altLang="en-US" sz="1000">
                <a:latin typeface="+mn-ea"/>
              </a:rPr>
              <a:t>으로 결정</a:t>
            </a:r>
            <a:endParaRPr lang="en-US" altLang="ko-KR" sz="1000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+mn-ea"/>
              </a:rPr>
              <a:t>메인샤프트 소재</a:t>
            </a:r>
            <a:r>
              <a:rPr lang="en-US" altLang="ko-KR" sz="100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>
                <a:solidFill>
                  <a:srgbClr val="0000FF"/>
                </a:solidFill>
                <a:latin typeface="+mn-ea"/>
              </a:rPr>
              <a:t>열처리</a:t>
            </a:r>
            <a:endParaRPr lang="en-US" altLang="ko-KR" sz="1000">
              <a:solidFill>
                <a:srgbClr val="0000FF"/>
              </a:solidFill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소재</a:t>
            </a:r>
            <a:r>
              <a:rPr lang="ko-KR" altLang="en-US" sz="1000">
                <a:latin typeface="+mn-ea"/>
              </a:rPr>
              <a:t> →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MASTA default material (</a:t>
            </a:r>
            <a:r>
              <a:rPr lang="ko-KR" altLang="en-US" sz="1000" u="sng">
                <a:latin typeface="+mn-ea"/>
              </a:rPr>
              <a:t>항복강도</a:t>
            </a:r>
            <a:r>
              <a:rPr lang="en-US" altLang="ko-KR" sz="1000" u="sng">
                <a:latin typeface="+mn-ea"/>
              </a:rPr>
              <a:t>: 750, </a:t>
            </a:r>
            <a:r>
              <a:rPr lang="ko-KR" altLang="en-US" sz="1000" u="sng">
                <a:latin typeface="+mn-ea"/>
              </a:rPr>
              <a:t>인장강도</a:t>
            </a:r>
            <a:r>
              <a:rPr lang="en-US" altLang="ko-KR" sz="1000" u="sng">
                <a:latin typeface="+mn-ea"/>
              </a:rPr>
              <a:t>: 1000, </a:t>
            </a:r>
            <a:r>
              <a:rPr lang="ko-KR" altLang="en-US" sz="1000" u="sng">
                <a:latin typeface="+mn-ea"/>
              </a:rPr>
              <a:t>내구한도</a:t>
            </a:r>
            <a:r>
              <a:rPr lang="en-US" altLang="ko-KR" sz="1000" u="sng">
                <a:latin typeface="+mn-ea"/>
              </a:rPr>
              <a:t>: 500 MPa) 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열처리</a:t>
            </a:r>
            <a:r>
              <a:rPr lang="ko-KR" altLang="en-US" sz="1000">
                <a:latin typeface="+mn-ea"/>
              </a:rPr>
              <a:t> →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Ductile Through Hardened Steel (AGMA 6001/6101-E08)</a:t>
            </a:r>
          </a:p>
          <a:p>
            <a:pPr marL="36000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+mn-ea"/>
              </a:rPr>
              <a:t>메인샤프트 초기 형상 및 메인베어링 위치</a:t>
            </a:r>
            <a:endParaRPr lang="en-US" altLang="ko-KR" sz="1000">
              <a:solidFill>
                <a:srgbClr val="0000FF"/>
              </a:solidFill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메인샤프트 외경은 </a:t>
            </a:r>
            <a:r>
              <a:rPr lang="ko-KR" altLang="en-US" sz="1000">
                <a:latin typeface="+mn-ea"/>
              </a:rPr>
              <a:t>베어링 </a:t>
            </a:r>
            <a:r>
              <a:rPr lang="en-US" altLang="ko-KR" sz="1000">
                <a:latin typeface="+mn-ea"/>
              </a:rPr>
              <a:t>Bore dia.</a:t>
            </a:r>
            <a:r>
              <a:rPr lang="ko-KR" altLang="en-US" sz="1000">
                <a:latin typeface="+mn-ea"/>
              </a:rPr>
              <a:t>에 의해 결정 → </a:t>
            </a:r>
            <a:r>
              <a:rPr lang="en-US" altLang="ko-KR" sz="1000">
                <a:latin typeface="+mn-ea"/>
              </a:rPr>
              <a:t>Goldwind 22MW </a:t>
            </a:r>
            <a:r>
              <a:rPr lang="ko-KR" altLang="en-US" sz="1000">
                <a:latin typeface="+mn-ea"/>
              </a:rPr>
              <a:t>참고하여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3055 mm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메인샤프트 두께</a:t>
            </a:r>
            <a:r>
              <a:rPr lang="ko-KR" altLang="en-US" sz="1000">
                <a:latin typeface="+mn-ea"/>
              </a:rPr>
              <a:t>는 강도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>
                <a:latin typeface="+mn-ea"/>
                <a:sym typeface="Wingdings" panose="05000000000000000000" pitchFamily="2" charset="2"/>
              </a:rPr>
              <a:t>변형량 기준 결정 필요 </a:t>
            </a:r>
            <a:br>
              <a:rPr lang="en-US" altLang="ko-KR" sz="1000">
                <a:latin typeface="+mn-ea"/>
                <a:sym typeface="Wingdings" panose="05000000000000000000" pitchFamily="2" charset="2"/>
              </a:rPr>
            </a:br>
            <a:r>
              <a:rPr lang="ko-KR" altLang="en-US" sz="1000">
                <a:latin typeface="+mn-ea"/>
              </a:rPr>
              <a:t>→ 일단 </a:t>
            </a:r>
            <a:r>
              <a:rPr lang="en-US" altLang="ko-KR" sz="1000">
                <a:latin typeface="+mn-ea"/>
              </a:rPr>
              <a:t>IEA 22MW </a:t>
            </a:r>
            <a:r>
              <a:rPr lang="ko-KR" altLang="en-US" sz="1000">
                <a:latin typeface="+mn-ea"/>
              </a:rPr>
              <a:t>참고하여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50 mm </a:t>
            </a:r>
            <a:r>
              <a:rPr lang="en-US" altLang="ko-KR" sz="1000">
                <a:latin typeface="+mn-ea"/>
              </a:rPr>
              <a:t>(IEA</a:t>
            </a:r>
            <a:r>
              <a:rPr lang="ko-KR" altLang="en-US" sz="1000">
                <a:latin typeface="+mn-ea"/>
              </a:rPr>
              <a:t>는 </a:t>
            </a:r>
            <a:r>
              <a:rPr lang="en-US" altLang="ko-KR" sz="1000">
                <a:latin typeface="+mn-ea"/>
              </a:rPr>
              <a:t>Inner shaft </a:t>
            </a:r>
            <a:r>
              <a:rPr lang="ko-KR" altLang="en-US" sz="1000">
                <a:latin typeface="+mn-ea"/>
              </a:rPr>
              <a:t>두께 </a:t>
            </a:r>
            <a:r>
              <a:rPr lang="en-US" altLang="ko-KR" sz="1000">
                <a:latin typeface="+mn-ea"/>
              </a:rPr>
              <a:t>35 mm)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메인샤프트 길이</a:t>
            </a:r>
            <a:r>
              <a:rPr lang="ko-KR" altLang="en-US" sz="1000">
                <a:latin typeface="+mn-ea"/>
              </a:rPr>
              <a:t>는 </a:t>
            </a:r>
            <a:r>
              <a:rPr lang="en-US" altLang="ko-KR" sz="1000">
                <a:latin typeface="+mn-ea"/>
              </a:rPr>
              <a:t>F2F/B2B </a:t>
            </a:r>
            <a:r>
              <a:rPr lang="ko-KR" altLang="en-US" sz="1000">
                <a:latin typeface="+mn-ea"/>
              </a:rPr>
              <a:t>분석 및 강도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>
                <a:latin typeface="+mn-ea"/>
                <a:sym typeface="Wingdings" panose="05000000000000000000" pitchFamily="2" charset="2"/>
              </a:rPr>
              <a:t>변형량 기준 결정 필요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4500 mm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메인베어링 위치</a:t>
            </a:r>
            <a:r>
              <a:rPr lang="ko-KR" altLang="en-US" sz="1000">
                <a:latin typeface="+mn-ea"/>
              </a:rPr>
              <a:t>는 </a:t>
            </a:r>
            <a:r>
              <a:rPr lang="en-US" altLang="ko-KR" sz="1000">
                <a:latin typeface="+mn-ea"/>
              </a:rPr>
              <a:t>F2F/B2B </a:t>
            </a:r>
            <a:r>
              <a:rPr lang="ko-KR" altLang="en-US" sz="1000">
                <a:latin typeface="+mn-ea"/>
              </a:rPr>
              <a:t>분석 및 트레이드 스터디로 결정 필요</a:t>
            </a:r>
            <a:br>
              <a:rPr lang="en-US" altLang="ko-KR" sz="1000">
                <a:latin typeface="+mn-ea"/>
              </a:rPr>
            </a:b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latin typeface="+mn-ea"/>
              </a:rPr>
              <a:t>초안 샤프트 좌측 기준 각각 </a:t>
            </a:r>
            <a:r>
              <a:rPr lang="en-US" altLang="ko-KR" sz="1000" u="sng">
                <a:latin typeface="+mn-ea"/>
              </a:rPr>
              <a:t>500, 4000 mm 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메인샤프트 외경 공차</a:t>
            </a:r>
            <a:r>
              <a:rPr lang="ko-KR" altLang="en-US" sz="1000" b="1">
                <a:latin typeface="+mn-ea"/>
                <a:sym typeface="Wingdings" panose="05000000000000000000" pitchFamily="2" charset="2"/>
              </a:rPr>
              <a:t>거칠기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solidFill>
                  <a:srgbClr val="FF0000"/>
                </a:solidFill>
                <a:latin typeface="+mn-ea"/>
              </a:rPr>
              <a:t>초안 미지정</a:t>
            </a:r>
            <a:endParaRPr lang="en-US" altLang="ko-KR" sz="1000" u="sng">
              <a:solidFill>
                <a:srgbClr val="FF0000"/>
              </a:solidFill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+mn-ea"/>
              </a:rPr>
              <a:t>메인베어링 초기 제원</a:t>
            </a:r>
            <a:endParaRPr lang="en-US" altLang="ko-KR" sz="1000">
              <a:solidFill>
                <a:srgbClr val="0000FF"/>
              </a:solidFill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소재</a:t>
            </a:r>
            <a:endParaRPr lang="en-US" altLang="ko-KR" sz="1000" b="1">
              <a:latin typeface="+mn-ea"/>
            </a:endParaRP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</a:rPr>
              <a:t>레이스웨이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>
                <a:latin typeface="+mn-ea"/>
              </a:rPr>
              <a:t>롤러 → </a:t>
            </a:r>
            <a:r>
              <a:rPr lang="en-US" altLang="ko-KR" sz="1000">
                <a:latin typeface="+mn-ea"/>
              </a:rPr>
              <a:t>Steel (</a:t>
            </a:r>
            <a:r>
              <a:rPr lang="ko-KR" altLang="en-US" sz="1000">
                <a:latin typeface="+mn-ea"/>
              </a:rPr>
              <a:t>인장강도 </a:t>
            </a:r>
            <a:r>
              <a:rPr lang="en-US" altLang="ko-KR" sz="1000">
                <a:latin typeface="+mn-ea"/>
              </a:rPr>
              <a:t>1000 MPa)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열처리 깊이</a:t>
            </a:r>
            <a:endParaRPr lang="en-US" altLang="ko-KR" sz="1000" b="1">
              <a:latin typeface="+mn-ea"/>
            </a:endParaRP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</a:rPr>
              <a:t>레이스웨이 → </a:t>
            </a:r>
            <a:r>
              <a:rPr lang="en-US" altLang="ko-KR" sz="1000">
                <a:latin typeface="+mn-ea"/>
              </a:rPr>
              <a:t>300 μm (MASTA </a:t>
            </a:r>
            <a:r>
              <a:rPr lang="ko-KR" altLang="en-US" sz="1000">
                <a:latin typeface="+mn-ea"/>
              </a:rPr>
              <a:t>추천값</a:t>
            </a:r>
            <a:r>
              <a:rPr lang="en-US" altLang="ko-KR" sz="1000">
                <a:latin typeface="+mn-ea"/>
              </a:rPr>
              <a:t>)</a:t>
            </a: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</a:rPr>
              <a:t>롤러</a:t>
            </a:r>
            <a:r>
              <a:rPr lang="en-US" altLang="ko-KR" sz="1000">
                <a:latin typeface="+mn-ea"/>
              </a:rPr>
              <a:t>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>
                <a:solidFill>
                  <a:srgbClr val="FF0000"/>
                </a:solidFill>
                <a:latin typeface="+mn-ea"/>
              </a:rPr>
              <a:t>선정 필요</a:t>
            </a:r>
            <a:endParaRPr lang="en-US" altLang="ko-KR" sz="1000">
              <a:solidFill>
                <a:srgbClr val="FF0000"/>
              </a:solidFill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메인베어링 배열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B2B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메인베어링 제원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Goldwind 22MW TRB </a:t>
            </a:r>
            <a:r>
              <a:rPr lang="ko-KR" altLang="en-US" sz="1000" u="sng">
                <a:latin typeface="+mn-ea"/>
              </a:rPr>
              <a:t>제원</a:t>
            </a:r>
            <a:endParaRPr lang="en-US" altLang="ko-KR" sz="1000" u="sng">
              <a:latin typeface="+mn-ea"/>
            </a:endParaRP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</a:rPr>
              <a:t>매크로 제원 → </a:t>
            </a:r>
            <a:r>
              <a:rPr lang="en-US" altLang="ko-KR" sz="1000" u="sng">
                <a:latin typeface="+mn-ea"/>
              </a:rPr>
              <a:t>BT1-8314 </a:t>
            </a:r>
            <a:r>
              <a:rPr lang="ko-KR" altLang="en-US" sz="1000" u="sng">
                <a:latin typeface="+mn-ea"/>
              </a:rPr>
              <a:t>제원</a:t>
            </a:r>
            <a:endParaRPr lang="en-US" altLang="ko-KR" sz="1000" u="sng">
              <a:latin typeface="+mn-ea"/>
            </a:endParaRP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</a:rPr>
              <a:t>마이크로 제원 → </a:t>
            </a:r>
            <a:r>
              <a:rPr lang="ko-KR" altLang="en-US" sz="1000" u="sng">
                <a:latin typeface="+mn-ea"/>
                <a:sym typeface="Wingdings" panose="05000000000000000000" pitchFamily="2" charset="2"/>
              </a:rPr>
              <a:t>롤러</a:t>
            </a:r>
            <a:r>
              <a:rPr lang="en-US" altLang="ko-KR" sz="1000" u="sng"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 u="sng">
                <a:latin typeface="+mn-ea"/>
              </a:rPr>
              <a:t>레이스웨이</a:t>
            </a:r>
            <a:r>
              <a:rPr lang="en-US" altLang="ko-KR" sz="1000" u="sng">
                <a:latin typeface="+mn-ea"/>
                <a:sym typeface="Wingdings" panose="05000000000000000000" pitchFamily="2" charset="2"/>
              </a:rPr>
              <a:t> DIN Lundberg(ISO 16281)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000">
                <a:latin typeface="+mn-ea"/>
                <a:sym typeface="Wingdings" panose="05000000000000000000" pitchFamily="2" charset="2"/>
              </a:rPr>
              <a:t>적용</a:t>
            </a:r>
            <a:endParaRPr lang="en-US" altLang="ko-KR" sz="1000">
              <a:latin typeface="+mn-ea"/>
              <a:sym typeface="Wingdings" panose="05000000000000000000" pitchFamily="2" charset="2"/>
            </a:endParaRP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  <a:sym typeface="Wingdings" panose="05000000000000000000" pitchFamily="2" charset="2"/>
              </a:rPr>
              <a:t>표면거칠기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latin typeface="+mn-ea"/>
              </a:rPr>
              <a:t>레이스웨이 </a:t>
            </a:r>
            <a:r>
              <a:rPr lang="en-US" altLang="ko-KR" sz="1000" u="sng">
                <a:latin typeface="+mn-ea"/>
              </a:rPr>
              <a:t>0.25 μm</a:t>
            </a:r>
            <a:r>
              <a:rPr lang="en-US" altLang="ko-KR" sz="1000">
                <a:latin typeface="+mn-ea"/>
              </a:rPr>
              <a:t> (MASTA </a:t>
            </a:r>
            <a:r>
              <a:rPr lang="ko-KR" altLang="en-US" sz="1000">
                <a:latin typeface="+mn-ea"/>
              </a:rPr>
              <a:t>추천값</a:t>
            </a:r>
            <a:r>
              <a:rPr lang="en-US" altLang="ko-KR" sz="1000">
                <a:latin typeface="+mn-ea"/>
              </a:rPr>
              <a:t>) / </a:t>
            </a:r>
            <a:r>
              <a:rPr lang="ko-KR" altLang="en-US" sz="1000" u="sng">
                <a:latin typeface="+mn-ea"/>
              </a:rPr>
              <a:t>롤러 </a:t>
            </a:r>
            <a:r>
              <a:rPr lang="en-US" altLang="ko-KR" sz="1000" u="sng">
                <a:latin typeface="+mn-ea"/>
              </a:rPr>
              <a:t>0.17 μm</a:t>
            </a:r>
            <a:r>
              <a:rPr lang="en-US" altLang="ko-KR" sz="1000">
                <a:latin typeface="+mn-ea"/>
              </a:rPr>
              <a:t> (MASTA </a:t>
            </a:r>
            <a:r>
              <a:rPr lang="ko-KR" altLang="en-US" sz="1000">
                <a:latin typeface="+mn-ea"/>
              </a:rPr>
              <a:t>추천값</a:t>
            </a:r>
            <a:r>
              <a:rPr lang="en-US" altLang="ko-KR" sz="1000">
                <a:latin typeface="+mn-ea"/>
              </a:rPr>
              <a:t>)</a:t>
            </a: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</a:rPr>
              <a:t>롤러 </a:t>
            </a:r>
            <a:r>
              <a:rPr lang="en-US" altLang="ko-KR" sz="1000">
                <a:latin typeface="+mn-ea"/>
              </a:rPr>
              <a:t>End shape </a:t>
            </a:r>
            <a:r>
              <a:rPr lang="ko-KR" altLang="en-US" sz="1000">
                <a:latin typeface="+mn-ea"/>
              </a:rPr>
              <a:t>→ </a:t>
            </a:r>
            <a:r>
              <a:rPr lang="en-US" altLang="ko-KR" sz="1000" u="sng">
                <a:latin typeface="+mn-ea"/>
              </a:rPr>
              <a:t>Domed/radius 1105.1 mm)</a:t>
            </a:r>
            <a:r>
              <a:rPr lang="en-US" altLang="ko-KR" sz="1000">
                <a:latin typeface="+mn-ea"/>
              </a:rPr>
              <a:t> (MASTA </a:t>
            </a:r>
            <a:r>
              <a:rPr lang="ko-KR" altLang="en-US" sz="1000">
                <a:latin typeface="+mn-ea"/>
              </a:rPr>
              <a:t>추천값</a:t>
            </a:r>
            <a:r>
              <a:rPr lang="en-US" altLang="ko-KR" sz="1000">
                <a:latin typeface="+mn-ea"/>
              </a:rPr>
              <a:t>)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메인베어링 내</a:t>
            </a:r>
            <a:r>
              <a:rPr lang="ko-KR" altLang="en-US" sz="1000" b="1"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 b="1">
                <a:latin typeface="+mn-ea"/>
              </a:rPr>
              <a:t>외륜 공차</a:t>
            </a:r>
            <a:r>
              <a:rPr lang="ko-KR" altLang="en-US" sz="1000" b="1">
                <a:latin typeface="+mn-ea"/>
                <a:sym typeface="Wingdings" panose="05000000000000000000" pitchFamily="2" charset="2"/>
              </a:rPr>
              <a:t>거칠기</a:t>
            </a:r>
            <a:r>
              <a:rPr lang="ko-KR" altLang="en-US" sz="1000" b="1">
                <a:latin typeface="+mn-ea"/>
              </a:rPr>
              <a:t>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solidFill>
                  <a:srgbClr val="FF0000"/>
                </a:solidFill>
                <a:latin typeface="+mn-ea"/>
              </a:rPr>
              <a:t>초안 미지정 </a:t>
            </a:r>
            <a:r>
              <a:rPr lang="en-US" altLang="ko-KR" sz="1000" u="sng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000" u="sng">
                <a:solidFill>
                  <a:srgbClr val="FF0000"/>
                </a:solidFill>
                <a:latin typeface="+mn-ea"/>
              </a:rPr>
              <a:t>포함 시 </a:t>
            </a:r>
            <a:r>
              <a:rPr lang="en-US" altLang="ko-KR" sz="1000" u="sng">
                <a:solidFill>
                  <a:srgbClr val="FF0000"/>
                </a:solidFill>
                <a:latin typeface="+mn-ea"/>
              </a:rPr>
              <a:t>MASTA Fitting details </a:t>
            </a:r>
            <a:r>
              <a:rPr lang="ko-KR" altLang="en-US" sz="1000" u="sng">
                <a:solidFill>
                  <a:srgbClr val="FF0000"/>
                </a:solidFill>
                <a:latin typeface="+mn-ea"/>
              </a:rPr>
              <a:t>체크 필요</a:t>
            </a:r>
            <a:r>
              <a:rPr lang="en-US" altLang="ko-KR" sz="1000" u="sng">
                <a:solidFill>
                  <a:srgbClr val="FF0000"/>
                </a:solidFill>
                <a:latin typeface="+mn-ea"/>
              </a:rPr>
              <a:t>)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메인베어링 마운팅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solidFill>
                  <a:srgbClr val="FF0000"/>
                </a:solidFill>
                <a:latin typeface="+mn-ea"/>
              </a:rPr>
              <a:t>초안 프리로드 미지정 </a:t>
            </a:r>
            <a:r>
              <a:rPr lang="en-US" altLang="ko-KR" sz="1000" u="sng">
                <a:latin typeface="+mn-ea"/>
              </a:rPr>
              <a:t>/ </a:t>
            </a:r>
            <a:r>
              <a:rPr lang="ko-KR" altLang="en-US" sz="1000" u="sng">
                <a:latin typeface="+mn-ea"/>
              </a:rPr>
              <a:t>내</a:t>
            </a:r>
            <a:r>
              <a:rPr lang="ko-KR" altLang="en-US" sz="1000" u="sng">
                <a:latin typeface="+mn-ea"/>
                <a:sym typeface="Wingdings" panose="05000000000000000000" pitchFamily="2" charset="2"/>
              </a:rPr>
              <a:t>외륜 </a:t>
            </a:r>
            <a:r>
              <a:rPr lang="en-US" altLang="ko-KR" sz="1000" u="sng">
                <a:latin typeface="+mn-ea"/>
                <a:sym typeface="Wingdings" panose="05000000000000000000" pitchFamily="2" charset="2"/>
              </a:rPr>
              <a:t>Radial mounting: interference</a:t>
            </a:r>
            <a:endParaRPr lang="en-US" altLang="ko-KR" sz="1000" u="sng">
              <a:latin typeface="+mn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BBA8E75-1DEC-4857-978D-B883F0EA9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72" y="8570614"/>
            <a:ext cx="1561206" cy="10345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ECA6C9-1654-4BC1-885B-06CB40DC09AC}"/>
              </a:ext>
            </a:extLst>
          </p:cNvPr>
          <p:cNvSpPr txBox="1"/>
          <p:nvPr/>
        </p:nvSpPr>
        <p:spPr>
          <a:xfrm>
            <a:off x="117151" y="9587934"/>
            <a:ext cx="235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&lt; </a:t>
            </a:r>
            <a:r>
              <a:rPr lang="ko-KR" altLang="en-US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베어링 내륜 회전 레이아웃</a:t>
            </a: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, SKF Catalogue &gt;</a:t>
            </a:r>
            <a:endParaRPr lang="ko-KR" altLang="en-US" sz="800" dirty="0">
              <a:latin typeface="KoPubWorld돋움체 Bold" panose="00000800000000000000" pitchFamily="2" charset="-127"/>
              <a:ea typeface="KoPub돋움체 Light" panose="02020603020101020101"/>
              <a:cs typeface="KoPubWorld돋움체 Bold" panose="000008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0108A81-A26D-44FD-A9F0-F1F58DE7F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705" y="8570614"/>
            <a:ext cx="1226589" cy="103453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56BD52-F7C1-4AD8-AC58-D8B201AA6873}"/>
              </a:ext>
            </a:extLst>
          </p:cNvPr>
          <p:cNvSpPr txBox="1"/>
          <p:nvPr/>
        </p:nvSpPr>
        <p:spPr>
          <a:xfrm>
            <a:off x="2450150" y="9587934"/>
            <a:ext cx="195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&lt; IEA</a:t>
            </a:r>
            <a:r>
              <a:rPr lang="ko-KR" altLang="en-US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 </a:t>
            </a: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22MW</a:t>
            </a:r>
            <a:r>
              <a:rPr lang="ko-KR" altLang="en-US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 터빈 메인샤프트 형상</a:t>
            </a: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 &gt;</a:t>
            </a:r>
            <a:endParaRPr lang="ko-KR" altLang="en-US" sz="800" dirty="0">
              <a:latin typeface="KoPubWorld돋움체 Bold" panose="00000800000000000000" pitchFamily="2" charset="-127"/>
              <a:ea typeface="KoPub돋움체 Light" panose="02020603020101020101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9428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051D92-D4FE-4C75-8CB5-5A68E790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3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E32E61-BAA0-4AD3-814E-7108D11D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 4. </a:t>
            </a:r>
            <a:r>
              <a:rPr lang="ko-KR" altLang="en-US"/>
              <a:t>설계 프로세스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DE0E9F22-F67A-4FA0-9F1E-35C6EFC88E7B}"/>
              </a:ext>
            </a:extLst>
          </p:cNvPr>
          <p:cNvSpPr txBox="1">
            <a:spLocks/>
          </p:cNvSpPr>
          <p:nvPr/>
        </p:nvSpPr>
        <p:spPr>
          <a:xfrm>
            <a:off x="141422" y="948379"/>
            <a:ext cx="6578099" cy="33496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158260" indent="-158260" algn="l" defTabSz="633039" rtl="0" eaLnBrk="1" latinLnBrk="1" hangingPunct="1">
              <a:lnSpc>
                <a:spcPct val="120000"/>
              </a:lnSpc>
              <a:spcBef>
                <a:spcPts val="692"/>
              </a:spcBef>
              <a:buFont typeface="Wingdings" panose="05000000000000000000" pitchFamily="2" charset="2"/>
              <a:buChar char="§"/>
              <a:defRPr lang="ko-KR" altLang="en-US" sz="1246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250578" indent="-250578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1108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2pPr>
            <a:lvl3pPr marL="197825" indent="-197825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969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3pPr>
            <a:lvl4pPr marL="1107818" indent="-158260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831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4pPr>
            <a:lvl5pPr marL="1424338" indent="-158260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831" kern="12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5pPr>
            <a:lvl6pPr marL="1740858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77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73897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90416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메인샤프트 및 메인베어링 설계 정리 </a:t>
            </a:r>
            <a:r>
              <a:rPr lang="en-US" altLang="ko-KR"/>
              <a:t>#2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C46FDF3-87B8-4537-B9E9-A8AA6CF584DF}"/>
                  </a:ext>
                </a:extLst>
              </p:cNvPr>
              <p:cNvSpPr/>
              <p:nvPr/>
            </p:nvSpPr>
            <p:spPr>
              <a:xfrm>
                <a:off x="232463" y="1435412"/>
                <a:ext cx="6393075" cy="688117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b="1">
                    <a:latin typeface="+mn-ea"/>
                  </a:rPr>
                  <a:t>작동조건 및 해석조건 설정</a:t>
                </a:r>
                <a:endParaRPr lang="en-US" altLang="ko-KR" sz="1000" b="1"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000">
                    <a:solidFill>
                      <a:srgbClr val="0000FF"/>
                    </a:solidFill>
                    <a:latin typeface="+mn-ea"/>
                  </a:rPr>
                  <a:t>하중조건</a:t>
                </a:r>
                <a:endParaRPr lang="en-US" altLang="ko-KR" sz="1000">
                  <a:solidFill>
                    <a:srgbClr val="0000FF"/>
                  </a:solidFill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유니슨에서 </a:t>
                </a:r>
                <a:r>
                  <a:rPr lang="en-US" altLang="ko-KR" sz="1000">
                    <a:latin typeface="+mn-ea"/>
                  </a:rPr>
                  <a:t>26MW </a:t>
                </a:r>
                <a:r>
                  <a:rPr lang="ko-KR" altLang="en-US" sz="1000">
                    <a:latin typeface="+mn-ea"/>
                  </a:rPr>
                  <a:t>해상풍력터빈 대상 통합하중해석 결과로 산출한 </a:t>
                </a:r>
                <a:r>
                  <a:rPr lang="en-US" altLang="ko-KR" sz="1000">
                    <a:latin typeface="+mn-ea"/>
                  </a:rPr>
                  <a:t>DLC </a:t>
                </a:r>
                <a:r>
                  <a:rPr lang="ko-KR" altLang="en-US" sz="1000">
                    <a:latin typeface="+mn-ea"/>
                  </a:rPr>
                  <a:t>활용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극한하중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>
                    <a:latin typeface="+mn-ea"/>
                  </a:rPr>
                  <a:t>샤프트 좌측단 작용 </a:t>
                </a:r>
                <a:r>
                  <a:rPr lang="en-US" altLang="ko-KR" sz="1000">
                    <a:latin typeface="+mn-ea"/>
                  </a:rPr>
                  <a:t>6</a:t>
                </a:r>
                <a:r>
                  <a:rPr lang="ko-KR" altLang="en-US" sz="1000">
                    <a:latin typeface="+mn-ea"/>
                  </a:rPr>
                  <a:t>자유도 하중</a:t>
                </a:r>
                <a:endParaRPr lang="en-US" altLang="ko-KR" sz="1000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>
                    <a:latin typeface="+mn-ea"/>
                  </a:rPr>
                  <a:t>실제 베어링 작용 하중은 베어링까지 거리에 따라 달라짐</a:t>
                </a:r>
                <a:endParaRPr lang="en-US" altLang="ko-KR" sz="1000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>
                    <a:latin typeface="+mn-ea"/>
                  </a:rPr>
                  <a:t>극한하중 해석 시에는 회전속도 고려 불필요</a:t>
                </a:r>
                <a:endParaRPr lang="en-US" altLang="ko-KR" sz="1000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000" u="sng">
                    <a:latin typeface="+mn-ea"/>
                  </a:rPr>
                  <a:t>MASTA</a:t>
                </a:r>
                <a:r>
                  <a:rPr lang="ko-KR" altLang="en-US" sz="1000" u="sng">
                    <a:latin typeface="+mn-ea"/>
                  </a:rPr>
                  <a:t>에는 샤프트 좌측단에 </a:t>
                </a:r>
                <a:r>
                  <a:rPr lang="en-US" altLang="ko-KR" sz="1000" u="sng">
                    <a:latin typeface="+mn-ea"/>
                  </a:rPr>
                  <a:t>6</a:t>
                </a:r>
                <a:r>
                  <a:rPr lang="ko-KR" altLang="en-US" sz="1000" u="sng">
                    <a:latin typeface="+mn-ea"/>
                  </a:rPr>
                  <a:t>자유도 하중 입력</a:t>
                </a:r>
                <a:endParaRPr lang="en-US" altLang="ko-KR" sz="1000" u="sng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피로하중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>
                    <a:latin typeface="+mn-ea"/>
                  </a:rPr>
                  <a:t>레이스웨이</a:t>
                </a:r>
                <a:endParaRPr lang="en-US" altLang="ko-KR" sz="1000">
                  <a:solidFill>
                    <a:srgbClr val="0000FF"/>
                  </a:solidFill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1000">
                  <a:solidFill>
                    <a:srgbClr val="0000FF"/>
                  </a:solidFill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000">
                    <a:solidFill>
                      <a:srgbClr val="0000FF"/>
                    </a:solidFill>
                    <a:latin typeface="+mn-ea"/>
                  </a:rPr>
                  <a:t>작동조건</a:t>
                </a:r>
                <a:endParaRPr lang="en-US" altLang="ko-KR" sz="1000">
                  <a:solidFill>
                    <a:srgbClr val="0000FF"/>
                  </a:solidFill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온도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 u="sng">
                    <a:latin typeface="+mn-ea"/>
                  </a:rPr>
                  <a:t>초기 설계 시에는 </a:t>
                </a:r>
                <a:r>
                  <a:rPr lang="en-US" altLang="ko-KR" sz="1000" u="sng">
                    <a:latin typeface="+mn-ea"/>
                  </a:rPr>
                  <a:t>MASTA</a:t>
                </a:r>
                <a:r>
                  <a:rPr lang="ko-KR" altLang="en-US" sz="1000" u="sng">
                    <a:latin typeface="+mn-ea"/>
                  </a:rPr>
                  <a:t>에서 온도 차이에 따른 열팽창은 고려 </a:t>
                </a:r>
                <a:r>
                  <a:rPr lang="en-US" altLang="ko-KR" sz="1000" u="sng">
                    <a:latin typeface="+mn-ea"/>
                  </a:rPr>
                  <a:t>X </a:t>
                </a:r>
                <a:r>
                  <a:rPr lang="ko-KR" altLang="en-US" sz="1000">
                    <a:latin typeface="+mn-ea"/>
                  </a:rPr>
                  <a:t>→ </a:t>
                </a:r>
                <a:r>
                  <a:rPr lang="en-US" altLang="ko-KR" sz="1000">
                    <a:latin typeface="+mn-ea"/>
                  </a:rPr>
                  <a:t>defalut</a:t>
                </a:r>
                <a:r>
                  <a:rPr lang="ko-KR" altLang="en-US" sz="1000">
                    <a:latin typeface="+mn-ea"/>
                  </a:rPr>
                  <a:t> 온도 사용</a:t>
                </a:r>
                <a:endParaRPr lang="en-US" altLang="ko-KR" sz="1000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>
                    <a:latin typeface="+mn-ea"/>
                  </a:rPr>
                  <a:t>왕강홍 레포트에는 </a:t>
                </a:r>
                <a:r>
                  <a:rPr lang="ko-KR" altLang="en-US" sz="1000" u="sng">
                    <a:latin typeface="+mn-ea"/>
                  </a:rPr>
                  <a:t>안전한 가정으로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000" u="sn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ΔT</m:t>
                    </m:r>
                    <m:r>
                      <a:rPr lang="en-US" altLang="ko-KR" sz="1000" b="0" i="0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</m:t>
                    </m:r>
                    <m:r>
                      <a:rPr lang="en-US" altLang="ko-KR" sz="10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altLang="ko-KR" sz="1000" u="sng">
                    <a:latin typeface="+mn-ea"/>
                  </a:rPr>
                  <a:t> </a:t>
                </a:r>
                <a:r>
                  <a:rPr lang="ko-KR" altLang="en-US" sz="1000" u="sng">
                    <a:latin typeface="+mn-ea"/>
                  </a:rPr>
                  <a:t>를 권장</a:t>
                </a:r>
                <a:r>
                  <a:rPr lang="ko-KR" altLang="en-US" sz="1000">
                    <a:latin typeface="+mn-ea"/>
                  </a:rPr>
                  <a:t> </a:t>
                </a:r>
                <a:r>
                  <a:rPr lang="en-US" altLang="ko-KR" sz="1000">
                    <a:latin typeface="+mn-ea"/>
                  </a:rPr>
                  <a:t>(</a:t>
                </a:r>
                <a:r>
                  <a:rPr lang="ko-KR" altLang="en-US" sz="1000">
                    <a:latin typeface="+mn-ea"/>
                  </a:rPr>
                  <a:t>샤프트</a:t>
                </a:r>
                <a:r>
                  <a:rPr lang="en-US" altLang="ko-KR" sz="1000">
                    <a:latin typeface="+mn-ea"/>
                  </a:rPr>
                  <a:t>/</a:t>
                </a:r>
                <a:r>
                  <a:rPr lang="ko-KR" altLang="en-US" sz="1000">
                    <a:latin typeface="+mn-ea"/>
                  </a:rPr>
                  <a:t>내륜</a:t>
                </a:r>
                <a:r>
                  <a:rPr lang="en-US" altLang="ko-KR" sz="1000">
                    <a:latin typeface="+mn-ea"/>
                  </a:rPr>
                  <a:t>/</a:t>
                </a:r>
                <a:r>
                  <a:rPr lang="ko-KR" altLang="en-US" sz="1000">
                    <a:latin typeface="+mn-ea"/>
                  </a:rPr>
                  <a:t>외륜 각각 온도 필요</a:t>
                </a:r>
                <a:r>
                  <a:rPr lang="en-US" altLang="ko-KR" sz="1000">
                    <a:latin typeface="+mn-ea"/>
                  </a:rPr>
                  <a:t>)</a:t>
                </a: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>
                    <a:latin typeface="+mn-ea"/>
                  </a:rPr>
                  <a:t>상세설계 시 온도 차이에 따른 열팽창 및 클리어런스 변화 고려 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중력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000" u="sng">
                    <a:latin typeface="+mn-ea"/>
                  </a:rPr>
                  <a:t>MASTA</a:t>
                </a:r>
                <a:r>
                  <a:rPr lang="ko-KR" altLang="en-US" sz="1000" u="sng">
                    <a:latin typeface="+mn-ea"/>
                  </a:rPr>
                  <a:t>에서 중력 작용 설정</a:t>
                </a:r>
                <a:endParaRPr lang="en-US" altLang="ko-KR" sz="1000" u="sng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윤활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000" u="sng">
                    <a:latin typeface="+mn-ea"/>
                  </a:rPr>
                  <a:t>MASTA</a:t>
                </a:r>
              </a:p>
              <a:p>
                <a:pPr marL="360000" lvl="1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1000">
                  <a:solidFill>
                    <a:srgbClr val="0000FF"/>
                  </a:solidFill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000">
                    <a:solidFill>
                      <a:srgbClr val="0000FF"/>
                    </a:solidFill>
                    <a:latin typeface="+mn-ea"/>
                  </a:rPr>
                  <a:t>기타 설계조건</a:t>
                </a:r>
                <a:r>
                  <a:rPr lang="en-US" altLang="ko-KR" sz="1000">
                    <a:solidFill>
                      <a:srgbClr val="0000FF"/>
                    </a:solidFill>
                    <a:latin typeface="+mn-ea"/>
                  </a:rPr>
                  <a:t>(</a:t>
                </a:r>
                <a:r>
                  <a:rPr lang="ko-KR" altLang="en-US" sz="1000">
                    <a:solidFill>
                      <a:srgbClr val="0000FF"/>
                    </a:solidFill>
                    <a:latin typeface="+mn-ea"/>
                  </a:rPr>
                  <a:t>왕강홍 자료</a:t>
                </a:r>
                <a:r>
                  <a:rPr lang="en-US" altLang="ko-KR" sz="1000">
                    <a:solidFill>
                      <a:srgbClr val="0000FF"/>
                    </a:solidFill>
                    <a:latin typeface="+mn-ea"/>
                  </a:rPr>
                  <a:t>)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베어링 간 거리 추정 가이드라인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000" u="sng">
                    <a:latin typeface="+mn-ea"/>
                  </a:rPr>
                  <a:t>1.5 &lt; L/d &lt; 2.5 (d: </a:t>
                </a:r>
                <a:r>
                  <a:rPr lang="ko-KR" altLang="en-US" sz="1000" u="sng">
                    <a:latin typeface="+mn-ea"/>
                  </a:rPr>
                  <a:t>업윈드 메인베어링 직경</a:t>
                </a:r>
                <a:r>
                  <a:rPr lang="en-US" altLang="ko-KR" sz="1000" u="sng">
                    <a:latin typeface="+mn-ea"/>
                  </a:rPr>
                  <a:t>, L: </a:t>
                </a:r>
                <a:r>
                  <a:rPr lang="ko-KR" altLang="en-US" sz="1000" u="sng">
                    <a:latin typeface="+mn-ea"/>
                  </a:rPr>
                  <a:t>베어링 간 거리</a:t>
                </a:r>
                <a:r>
                  <a:rPr lang="en-US" altLang="ko-KR" sz="1000" u="sng">
                    <a:latin typeface="+mn-ea"/>
                  </a:rPr>
                  <a:t>)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롤러 치수 관계식 가이드라인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000" u="sng">
                    <a:latin typeface="+mn-ea"/>
                  </a:rPr>
                  <a:t>1.5*Dwe &lt; Lwe &lt; 2.0*Dwe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최적 접촉각 선택 가이드라인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a:rPr lang="en-US" altLang="ko-KR" sz="1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endParaRPr lang="en-US" altLang="ko-KR" sz="1000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000" u="sng">
                  <a:latin typeface="+mn-ea"/>
                </a:endParaRPr>
              </a:p>
            </p:txBody>
          </p:sp>
        </mc:Choice>
        <mc:Fallback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C46FDF3-87B8-4537-B9E9-A8AA6CF584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63" y="1435412"/>
                <a:ext cx="6393075" cy="68811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0ECA6C9-1654-4BC1-885B-06CB40DC09AC}"/>
              </a:ext>
            </a:extLst>
          </p:cNvPr>
          <p:cNvSpPr txBox="1"/>
          <p:nvPr/>
        </p:nvSpPr>
        <p:spPr>
          <a:xfrm>
            <a:off x="117151" y="9587934"/>
            <a:ext cx="235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&lt; </a:t>
            </a:r>
            <a:r>
              <a:rPr lang="ko-KR" altLang="en-US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베어링 내륜 회전 레이아웃</a:t>
            </a: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, SKF Catalogue &gt;</a:t>
            </a:r>
            <a:endParaRPr lang="ko-KR" altLang="en-US" sz="800" dirty="0">
              <a:latin typeface="KoPubWorld돋움체 Bold" panose="00000800000000000000" pitchFamily="2" charset="-127"/>
              <a:ea typeface="KoPub돋움체 Light" panose="02020603020101020101"/>
              <a:cs typeface="KoPubWorld돋움체 Bold" panose="000008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56BD52-F7C1-4AD8-AC58-D8B201AA6873}"/>
              </a:ext>
            </a:extLst>
          </p:cNvPr>
          <p:cNvSpPr txBox="1"/>
          <p:nvPr/>
        </p:nvSpPr>
        <p:spPr>
          <a:xfrm>
            <a:off x="2450150" y="9587934"/>
            <a:ext cx="195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&lt; IEA</a:t>
            </a:r>
            <a:r>
              <a:rPr lang="ko-KR" altLang="en-US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 </a:t>
            </a: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22MW</a:t>
            </a:r>
            <a:r>
              <a:rPr lang="ko-KR" altLang="en-US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 터빈 메인샤프트 형상</a:t>
            </a: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 &gt;</a:t>
            </a:r>
            <a:endParaRPr lang="ko-KR" altLang="en-US" sz="800" dirty="0">
              <a:latin typeface="KoPubWorld돋움체 Bold" panose="00000800000000000000" pitchFamily="2" charset="-127"/>
              <a:ea typeface="KoPub돋움체 Light" panose="02020603020101020101"/>
              <a:cs typeface="KoPubWorld돋움체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81E628-B085-4BC1-9F3E-FBA840650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329" y="7113240"/>
            <a:ext cx="1531218" cy="95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17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+mj-ea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5" id="{539303EA-A55D-439F-975F-6A16BF5F8069}" vid="{C6E3C10E-D42D-4DE9-979B-5F28A1C0687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2025</Template>
  <TotalTime>17233</TotalTime>
  <Words>527</Words>
  <Application>Microsoft Office PowerPoint</Application>
  <PresentationFormat>A4 용지(210x297mm)</PresentationFormat>
  <Paragraphs>72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6" baseType="lpstr">
      <vt:lpstr>KoPubWorld돋움체 Bold</vt:lpstr>
      <vt:lpstr>KoPubWorld돋움체 Light</vt:lpstr>
      <vt:lpstr>KoPubWorld돋움체 Medium</vt:lpstr>
      <vt:lpstr>KoPub돋움체 Light</vt:lpstr>
      <vt:lpstr>맑은 고딕</vt:lpstr>
      <vt:lpstr>Arial</vt:lpstr>
      <vt:lpstr>Calibri</vt:lpstr>
      <vt:lpstr>Calibri Light</vt:lpstr>
      <vt:lpstr>Cambria Math</vt:lpstr>
      <vt:lpstr>Vrinda</vt:lpstr>
      <vt:lpstr>Wingdings</vt:lpstr>
      <vt:lpstr>Office 테마</vt:lpstr>
      <vt:lpstr># 4. 설계 프로세스</vt:lpstr>
      <vt:lpstr># 4. 설계 프로세스</vt:lpstr>
      <vt:lpstr># 4. 설계 프로세스</vt:lpstr>
      <vt:lpstr># 4. 설계 프로세스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Agent를 활용한 기어설계 자율화 기술 개발</dc:title>
  <dc:creator>수철 김</dc:creator>
  <cp:lastModifiedBy>KIMM</cp:lastModifiedBy>
  <cp:revision>842</cp:revision>
  <dcterms:created xsi:type="dcterms:W3CDTF">2025-04-15T04:07:16Z</dcterms:created>
  <dcterms:modified xsi:type="dcterms:W3CDTF">2026-07-10T10:59:34Z</dcterms:modified>
</cp:coreProperties>
</file>