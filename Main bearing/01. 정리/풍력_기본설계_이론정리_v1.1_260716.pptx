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18"/>
  </p:notesMasterIdLst>
  <p:handoutMasterIdLst>
    <p:handoutMasterId r:id="rId19"/>
  </p:handoutMasterIdLst>
  <p:sldIdLst>
    <p:sldId id="517" r:id="rId2"/>
    <p:sldId id="501" r:id="rId3"/>
    <p:sldId id="513" r:id="rId4"/>
    <p:sldId id="514" r:id="rId5"/>
    <p:sldId id="515" r:id="rId6"/>
    <p:sldId id="516" r:id="rId7"/>
    <p:sldId id="518" r:id="rId8"/>
    <p:sldId id="519" r:id="rId9"/>
    <p:sldId id="520" r:id="rId10"/>
    <p:sldId id="521" r:id="rId11"/>
    <p:sldId id="502" r:id="rId12"/>
    <p:sldId id="503" r:id="rId13"/>
    <p:sldId id="512" r:id="rId14"/>
    <p:sldId id="510" r:id="rId15"/>
    <p:sldId id="522" r:id="rId16"/>
    <p:sldId id="511" r:id="rId17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9FBFD"/>
    <a:srgbClr val="E5E9EF"/>
    <a:srgbClr val="253865"/>
    <a:srgbClr val="BDD7EE"/>
    <a:srgbClr val="CCCCCC"/>
    <a:srgbClr val="2E406B"/>
    <a:srgbClr val="D6DCE5"/>
    <a:srgbClr val="F9F9F9"/>
    <a:srgbClr val="F0F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323" autoAdjust="0"/>
    <p:restoredTop sz="96408" autoAdjust="0"/>
  </p:normalViewPr>
  <p:slideViewPr>
    <p:cSldViewPr>
      <p:cViewPr varScale="1">
        <p:scale>
          <a:sx n="88" d="100"/>
          <a:sy n="88" d="100"/>
        </p:scale>
        <p:origin x="76" y="1740"/>
      </p:cViewPr>
      <p:guideLst>
        <p:guide orient="horz" pos="432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3925"/>
    </p:cViewPr>
  </p:sorterViewPr>
  <p:notesViewPr>
    <p:cSldViewPr showGuides="1">
      <p:cViewPr varScale="1">
        <p:scale>
          <a:sx n="118" d="100"/>
          <a:sy n="118" d="100"/>
        </p:scale>
        <p:origin x="50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A512C-801C-4C41-9C94-2A34471BB050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6AD00D-9267-4F61-B173-7A93DD1592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1815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52D42D-7303-4AC9-BD56-FE82C75A44E7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BBA20-2902-469F-999A-33F3CCD7F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9456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각 삼각형 4"/>
          <p:cNvSpPr/>
          <p:nvPr userDrawn="1"/>
        </p:nvSpPr>
        <p:spPr>
          <a:xfrm rot="10800000" flipH="1">
            <a:off x="0" y="0"/>
            <a:ext cx="9777536" cy="1268760"/>
          </a:xfrm>
          <a:prstGeom prst="rtTriangl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988840"/>
            <a:ext cx="7522418" cy="1089075"/>
          </a:xfrm>
        </p:spPr>
        <p:txBody>
          <a:bodyPr anchor="b">
            <a:normAutofit/>
          </a:bodyPr>
          <a:lstStyle>
            <a:lvl1pPr algn="l">
              <a:defRPr sz="4000" b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38250" y="4365104"/>
            <a:ext cx="742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dirty="0"/>
              <a:t>2025. 00. 00</a:t>
            </a:r>
          </a:p>
          <a:p>
            <a:r>
              <a:rPr lang="ko-KR" altLang="en-US" dirty="0"/>
              <a:t>산업기계</a:t>
            </a:r>
            <a:r>
              <a:rPr lang="en-US" altLang="ko-KR" dirty="0"/>
              <a:t>DX </a:t>
            </a:r>
            <a:r>
              <a:rPr lang="en-US" dirty="0"/>
              <a:t>000 </a:t>
            </a: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312" y="188640"/>
            <a:ext cx="2000672" cy="379549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9AF2BBC-0DCB-BB98-76C2-04D693EB0F82}"/>
              </a:ext>
            </a:extLst>
          </p:cNvPr>
          <p:cNvSpPr/>
          <p:nvPr userDrawn="1"/>
        </p:nvSpPr>
        <p:spPr>
          <a:xfrm>
            <a:off x="992560" y="4365104"/>
            <a:ext cx="45719" cy="1655763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BF6C72F-294E-60E7-D841-4D9EA9AFE1DF}"/>
              </a:ext>
            </a:extLst>
          </p:cNvPr>
          <p:cNvSpPr/>
          <p:nvPr userDrawn="1"/>
        </p:nvSpPr>
        <p:spPr>
          <a:xfrm>
            <a:off x="0" y="0"/>
            <a:ext cx="9906000" cy="6617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D2727389-C247-F52C-FDE9-F0D2F08702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2950" y="3232732"/>
            <a:ext cx="7522418" cy="4318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6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0830" y="6615400"/>
            <a:ext cx="68163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0">
                <a:solidFill>
                  <a:schemeClr val="bg1">
                    <a:lumMod val="65000"/>
                  </a:schemeClr>
                </a:solidFill>
                <a:latin typeface="+mn-lt"/>
                <a:cs typeface="Vrinda" panose="020B0502040204020203" pitchFamily="34" charset="0"/>
              </a:rPr>
              <a:t>Copyright</a:t>
            </a:r>
            <a:r>
              <a:rPr lang="en-US" altLang="ko-KR" sz="800" b="0" baseline="0">
                <a:solidFill>
                  <a:schemeClr val="bg1">
                    <a:lumMod val="65000"/>
                  </a:schemeClr>
                </a:solidFill>
                <a:latin typeface="+mn-lt"/>
                <a:cs typeface="Vrinda" panose="020B0502040204020203" pitchFamily="34" charset="0"/>
              </a:rPr>
              <a:t> 2026. </a:t>
            </a:r>
            <a:r>
              <a:rPr lang="en-US" altLang="ko-KR" sz="800" b="0" baseline="0" dirty="0">
                <a:solidFill>
                  <a:schemeClr val="bg1">
                    <a:lumMod val="65000"/>
                  </a:schemeClr>
                </a:solidFill>
                <a:latin typeface="+mn-lt"/>
                <a:cs typeface="Vrinda" panose="020B0502040204020203" pitchFamily="34" charset="0"/>
              </a:rPr>
              <a:t>KIMM (Korea Institute of Machinery &amp; Materials). All pictures cannot be copied without permission.</a:t>
            </a:r>
            <a:endParaRPr lang="ko-KR" altLang="en-US" sz="800" b="0" dirty="0">
              <a:solidFill>
                <a:schemeClr val="bg1">
                  <a:lumMod val="65000"/>
                </a:schemeClr>
              </a:solidFill>
              <a:latin typeface="+mn-lt"/>
              <a:cs typeface="Vrind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851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9906000" cy="6617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48563" y="6600348"/>
            <a:ext cx="2228850" cy="231900"/>
          </a:xfrm>
          <a:prstGeom prst="rect">
            <a:avLst/>
          </a:prstGeom>
        </p:spPr>
        <p:txBody>
          <a:bodyPr/>
          <a:lstStyle>
            <a:lvl1pPr algn="r">
              <a:defRPr sz="900" i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603" y="154509"/>
            <a:ext cx="8923853" cy="538187"/>
          </a:xfrm>
        </p:spPr>
        <p:txBody>
          <a:bodyPr anchor="ctr">
            <a:normAutofit/>
          </a:bodyPr>
          <a:lstStyle>
            <a:lvl1pPr>
              <a:defRPr sz="2800" b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ADE512-4468-1409-6A09-3B7E4D38EA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213"/>
          <a:stretch/>
        </p:blipFill>
        <p:spPr>
          <a:xfrm>
            <a:off x="9196456" y="233827"/>
            <a:ext cx="575941" cy="379549"/>
          </a:xfrm>
          <a:prstGeom prst="rect">
            <a:avLst/>
          </a:prstGeom>
        </p:spPr>
      </p:pic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AE9C39DD-960B-7A9B-F4FE-9EEEB7CED6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277" y="908720"/>
            <a:ext cx="9501698" cy="379549"/>
          </a:xfrm>
        </p:spPr>
        <p:txBody>
          <a:bodyPr vert="horz" wrap="none" lIns="91440" tIns="45720" rIns="91440" bIns="45720" rtlCol="0">
            <a:noAutofit/>
          </a:bodyPr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 lang="ko-KR" altLang="en-US" sz="180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  <a:lvl2pPr marL="361950" indent="-361950">
              <a:lnSpc>
                <a:spcPct val="120000"/>
              </a:lnSpc>
              <a:buFont typeface="Wingdings" panose="05000000000000000000" pitchFamily="2" charset="2"/>
              <a:buChar char="§"/>
              <a:defRPr lang="ko-KR" altLang="en-US" sz="160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2pPr>
            <a:lvl3pPr marL="285750" indent="-285750">
              <a:lnSpc>
                <a:spcPct val="120000"/>
              </a:lnSpc>
              <a:buFont typeface="Wingdings" panose="05000000000000000000" pitchFamily="2" charset="2"/>
              <a:buChar char="§"/>
              <a:defRPr lang="ko-KR" altLang="en-US" sz="140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3pPr>
            <a:lvl4pPr>
              <a:lnSpc>
                <a:spcPct val="120000"/>
              </a:lnSpc>
              <a:buFont typeface="Wingdings" panose="05000000000000000000" pitchFamily="2" charset="2"/>
              <a:buChar char="§"/>
              <a:defRPr lang="ko-KR" altLang="en-US" sz="1200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4pPr>
            <a:lvl5pPr>
              <a:lnSpc>
                <a:spcPct val="120000"/>
              </a:lnSpc>
              <a:buFont typeface="Wingdings" panose="05000000000000000000" pitchFamily="2" charset="2"/>
              <a:buChar char="§"/>
              <a:def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5pPr>
          </a:lstStyle>
          <a:p>
            <a:pPr marL="182563" lvl="0" indent="-182563"/>
            <a:r>
              <a:rPr lang="ko-KR" altLang="en-US" dirty="0"/>
              <a:t>마스터 텍스트 스타일을 편집하려면 클릭</a:t>
            </a:r>
          </a:p>
          <a:p>
            <a:pPr marL="182563" lvl="1" indent="-182563"/>
            <a:r>
              <a:rPr lang="ko-KR" altLang="en-US" dirty="0"/>
              <a:t>두 번째 수준</a:t>
            </a:r>
          </a:p>
          <a:p>
            <a:pPr marL="182563" lvl="2" indent="-182563"/>
            <a:r>
              <a:rPr lang="ko-KR" altLang="en-US" dirty="0"/>
              <a:t>세 번째 수준</a:t>
            </a:r>
          </a:p>
          <a:p>
            <a:pPr marL="182563" lvl="3" indent="-182563"/>
            <a:r>
              <a:rPr lang="ko-KR" altLang="en-US" dirty="0"/>
              <a:t>네 번째 수준</a:t>
            </a:r>
          </a:p>
          <a:p>
            <a:pPr marL="182563" lvl="4" indent="-182563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379347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126" userDrawn="1">
          <p15:clr>
            <a:srgbClr val="FBAE40"/>
          </p15:clr>
        </p15:guide>
        <p15:guide id="4" pos="6114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744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69A944F-306C-4A02-AA78-D755C7CF1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0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45AED36-B16B-4704-9B7A-0E34291BB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#1 </a:t>
            </a:r>
            <a:r>
              <a:rPr lang="ko-KR" altLang="en-US"/>
              <a:t>하중해석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D78A093-67C9-4677-A2EB-8A22CA0CAA39}"/>
              </a:ext>
            </a:extLst>
          </p:cNvPr>
          <p:cNvSpPr/>
          <p:nvPr/>
        </p:nvSpPr>
        <p:spPr>
          <a:xfrm>
            <a:off x="3136900" y="3323979"/>
            <a:ext cx="501650" cy="220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5C468A-4FAA-4A1F-8107-FAE36CFD1B63}"/>
              </a:ext>
            </a:extLst>
          </p:cNvPr>
          <p:cNvSpPr/>
          <p:nvPr/>
        </p:nvSpPr>
        <p:spPr>
          <a:xfrm>
            <a:off x="272480" y="1556792"/>
            <a:ext cx="4536504" cy="214597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>
                <a:latin typeface="-apple-system"/>
              </a:rPr>
              <a:t>Gen1 Limitations and Gen3 Improvements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-apple-system"/>
              </a:rPr>
              <a:t>롤러 굽힘 무시 → </a:t>
            </a:r>
            <a:r>
              <a:rPr lang="en-US" altLang="ko-KR" sz="1000">
                <a:latin typeface="-apple-system"/>
              </a:rPr>
              <a:t>misalignment </a:t>
            </a:r>
            <a:r>
              <a:rPr lang="ko-KR" altLang="en-US" sz="1000">
                <a:latin typeface="-apple-system"/>
              </a:rPr>
              <a:t>시 에지 응력을 과소평가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>
                <a:latin typeface="-apple-system"/>
              </a:rPr>
              <a:t>Slice </a:t>
            </a:r>
            <a:r>
              <a:rPr lang="ko-KR" altLang="en-US" sz="1000">
                <a:latin typeface="-apple-system"/>
              </a:rPr>
              <a:t>간 연속성 없음 → 프로파일 불연속점에서 비물리적 하중 분포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>
                <a:latin typeface="-apple-system"/>
              </a:rPr>
              <a:t>Weber </a:t>
            </a:r>
            <a:r>
              <a:rPr lang="ko-KR" altLang="en-US" sz="1000">
                <a:latin typeface="-apple-system"/>
              </a:rPr>
              <a:t>벌크 변형의 </a:t>
            </a:r>
            <a:r>
              <a:rPr lang="en-US" altLang="ko-KR" sz="1000">
                <a:latin typeface="-apple-system"/>
              </a:rPr>
              <a:t>slice </a:t>
            </a:r>
            <a:r>
              <a:rPr lang="ko-KR" altLang="en-US" sz="1000">
                <a:latin typeface="-apple-system"/>
              </a:rPr>
              <a:t>간 커플링 무시 → 접촉 폭 전이구간 부정확</a:t>
            </a:r>
            <a:endParaRPr lang="en-US" altLang="ko-KR" sz="1000">
              <a:latin typeface="-apple-system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-apple-system"/>
              </a:rPr>
              <a:t>장점</a:t>
            </a:r>
            <a:r>
              <a:rPr lang="en-US" altLang="ko-KR" sz="1000">
                <a:latin typeface="-apple-system"/>
              </a:rPr>
              <a:t>: </a:t>
            </a:r>
            <a:r>
              <a:rPr lang="ko-KR" altLang="en-US" sz="1000">
                <a:latin typeface="-apple-system"/>
              </a:rPr>
              <a:t>계산 속도 빠름</a:t>
            </a:r>
            <a:r>
              <a:rPr lang="en-US" altLang="ko-KR" sz="1000">
                <a:latin typeface="-apple-system"/>
              </a:rPr>
              <a:t>, </a:t>
            </a:r>
            <a:r>
              <a:rPr lang="ko-KR" altLang="en-US" sz="1000">
                <a:latin typeface="-apple-system"/>
              </a:rPr>
              <a:t>구현 단순</a:t>
            </a:r>
            <a:r>
              <a:rPr lang="en-US" altLang="ko-KR" sz="1000">
                <a:latin typeface="-apple-system"/>
              </a:rPr>
              <a:t>, </a:t>
            </a:r>
            <a:r>
              <a:rPr lang="ko-KR" altLang="en-US" sz="1000">
                <a:latin typeface="-apple-system"/>
              </a:rPr>
              <a:t>파라메트릭 스터디에 적합</a:t>
            </a:r>
            <a:endParaRPr lang="en-US" altLang="ko-KR" sz="1000">
              <a:latin typeface="-apple-system"/>
            </a:endParaRPr>
          </a:p>
          <a:p>
            <a:pPr>
              <a:lnSpc>
                <a:spcPct val="150000"/>
              </a:lnSpc>
            </a:pPr>
            <a:endParaRPr lang="en-US" altLang="ko-KR" sz="1000">
              <a:latin typeface="-apple-system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>
                <a:latin typeface="-apple-system"/>
              </a:rPr>
              <a:t>Gen3: </a:t>
            </a:r>
            <a:r>
              <a:rPr lang="ko-KR" altLang="en-US" sz="1000">
                <a:latin typeface="-apple-system"/>
              </a:rPr>
              <a:t>티모셴코 빔 </a:t>
            </a:r>
            <a:r>
              <a:rPr lang="en-US" altLang="ko-KR" sz="1000">
                <a:latin typeface="-apple-system"/>
              </a:rPr>
              <a:t>FE + </a:t>
            </a:r>
            <a:r>
              <a:rPr lang="ko-KR" altLang="en-US" sz="1000">
                <a:latin typeface="-apple-system"/>
              </a:rPr>
              <a:t>비선형 </a:t>
            </a:r>
            <a:r>
              <a:rPr lang="en-US" altLang="ko-KR" sz="1000">
                <a:latin typeface="-apple-system"/>
              </a:rPr>
              <a:t>Herz </a:t>
            </a:r>
            <a:r>
              <a:rPr lang="ko-KR" altLang="en-US" sz="1000">
                <a:latin typeface="-apple-system"/>
              </a:rPr>
              <a:t>접촉 스프링 커플링</a:t>
            </a:r>
            <a:endParaRPr lang="en-US" altLang="ko-KR" sz="1000">
              <a:latin typeface="-apple-system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-apple-system"/>
              </a:rPr>
              <a:t>빔의 굽힘</a:t>
            </a:r>
            <a:r>
              <a:rPr lang="en-US" altLang="ko-KR" sz="1000">
                <a:latin typeface="-apple-system"/>
              </a:rPr>
              <a:t>/</a:t>
            </a:r>
            <a:r>
              <a:rPr lang="ko-KR" altLang="en-US" sz="1000">
                <a:latin typeface="-apple-system"/>
              </a:rPr>
              <a:t>전단 변형이 슬라이스 간 하중 재분배 → 모서리 응력 정밀 예측</a:t>
            </a:r>
            <a:endParaRPr lang="en-US" altLang="ko-KR" sz="1000">
              <a:latin typeface="-apple-system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>
                <a:latin typeface="-apple-system"/>
              </a:rPr>
              <a:t>TRB </a:t>
            </a:r>
            <a:r>
              <a:rPr lang="ko-KR" altLang="en-US" sz="1000">
                <a:latin typeface="-apple-system"/>
              </a:rPr>
              <a:t>롤러는 길이가 짧아 전단 변형 영향 크므로 티모셴코 빔 채택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BCAA5F-B0A5-4439-848D-682BD4454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480" y="4453014"/>
            <a:ext cx="4824536" cy="146838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vert="horz" wrap="square" lIns="91440" tIns="0" rIns="91440" bIns="11109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000" b="1">
                <a:latin typeface="-apple-system"/>
              </a:rPr>
              <a:t>Rib contact analysis</a:t>
            </a:r>
            <a:endParaRPr kumimoji="0" lang="en-US" altLang="ko-KR" sz="1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ea typeface="-apple-system"/>
              </a:rPr>
              <a:t>롤러 대단면-내륜 리브 접촉은 별도의 Hertzian point contact (타원 접촉)으로 해석.</a:t>
            </a:r>
            <a:endParaRPr kumimoji="0" lang="ko-KR" altLang="ko-KR" sz="3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ea typeface="-apple-system"/>
              </a:rPr>
              <a:t>입력: 롤러 대단 구면 반경 </a:t>
            </a: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latin typeface="Consolas" panose="020B0609020204030204" pitchFamily="49" charset="0"/>
                <a:ea typeface="-apple-system"/>
              </a:rPr>
              <a:t>R_sph</a:t>
            </a: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ea typeface="-apple-system"/>
              </a:rPr>
              <a:t>, 리브 형상 (</a:t>
            </a: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latin typeface="Consolas" panose="020B0609020204030204" pitchFamily="49" charset="0"/>
                <a:ea typeface="-apple-system"/>
              </a:rPr>
              <a:t>R_rib</a:t>
            </a: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ea typeface="-apple-system"/>
              </a:rPr>
              <a:t>,</a:t>
            </a: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ea typeface="-apple-system"/>
              </a:rPr>
              <a:t> </a:t>
            </a: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latin typeface="Consolas" panose="020B0609020204030204" pitchFamily="49" charset="0"/>
                <a:ea typeface="-apple-system"/>
              </a:rPr>
              <a:t>α_rib</a:t>
            </a: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ea typeface="-apple-system"/>
              </a:rPr>
              <a:t>)</a:t>
            </a:r>
            <a:endParaRPr kumimoji="0" lang="ko-KR" altLang="ko-KR" sz="1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ea typeface="-apple-system"/>
              </a:rPr>
              <a:t>리브 접촉력: 롤러 축방향 평형에서 산출 (</a:t>
            </a: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latin typeface="Consolas" panose="020B0609020204030204" pitchFamily="49" charset="0"/>
                <a:ea typeface="-apple-system"/>
              </a:rPr>
              <a:t>Q × sinα</a:t>
            </a: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ea typeface="-apple-system"/>
              </a:rPr>
              <a:t>에 대한 반력)</a:t>
            </a:r>
            <a:endParaRPr kumimoji="0" lang="ko-KR" altLang="ko-KR" sz="1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ea typeface="-apple-system"/>
              </a:rPr>
              <a:t>접촉 타원 반경 </a:t>
            </a: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latin typeface="Consolas" panose="020B0609020204030204" pitchFamily="49" charset="0"/>
                <a:ea typeface="-apple-system"/>
              </a:rPr>
              <a:t>a</a:t>
            </a: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ea typeface="-apple-system"/>
              </a:rPr>
              <a:t>,</a:t>
            </a: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ea typeface="-apple-system"/>
              </a:rPr>
              <a:t> </a:t>
            </a: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latin typeface="Consolas" panose="020B0609020204030204" pitchFamily="49" charset="0"/>
                <a:ea typeface="-apple-system"/>
              </a:rPr>
              <a:t>b</a:t>
            </a: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ea typeface="-apple-system"/>
              </a:rPr>
              <a:t> </a:t>
            </a: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ea typeface="-apple-system"/>
              </a:rPr>
              <a:t>및 최대 접촉 응력 </a:t>
            </a: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latin typeface="Consolas" panose="020B0609020204030204" pitchFamily="49" charset="0"/>
                <a:ea typeface="-apple-system"/>
              </a:rPr>
              <a:t>p_max_rib</a:t>
            </a: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ea typeface="-apple-system"/>
              </a:rPr>
              <a:t> </a:t>
            </a: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ea typeface="-apple-system"/>
              </a:rPr>
              <a:t>계산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ea typeface="-apple-system"/>
              </a:rPr>
              <a:t>마찰 발열 및 스핀 모멘트 산출 (고속 시 중요)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312A5E1-BDFA-4DD2-8F3F-344AE865B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128" y="1556792"/>
            <a:ext cx="3312368" cy="1928184"/>
          </a:xfrm>
          <a:prstGeom prst="rect">
            <a:avLst/>
          </a:prstGeom>
        </p:spPr>
      </p:pic>
      <p:sp>
        <p:nvSpPr>
          <p:cNvPr id="15" name="텍스트 개체 틀 3">
            <a:extLst>
              <a:ext uri="{FF2B5EF4-FFF2-40B4-BE49-F238E27FC236}">
                <a16:creationId xmlns:a16="http://schemas.microsoft.com/office/drawing/2014/main" id="{39C17DC9-82A3-4D1A-866A-110ADD7DC6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277" y="908720"/>
            <a:ext cx="9501698" cy="379549"/>
          </a:xfrm>
        </p:spPr>
        <p:txBody>
          <a:bodyPr/>
          <a:lstStyle/>
          <a:p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슬라이스 모델 기반 자체 </a:t>
            </a:r>
            <a:r>
              <a:rPr lang="ko-KR" altLang="en-US" dirty="0" err="1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솔버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 개발</a:t>
            </a:r>
          </a:p>
        </p:txBody>
      </p:sp>
    </p:spTree>
    <p:extLst>
      <p:ext uri="{BB962C8B-B14F-4D97-AF65-F5344CB8AC3E}">
        <p14:creationId xmlns:p14="http://schemas.microsoft.com/office/powerpoint/2010/main" val="129081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69A944F-306C-4A02-AA78-D755C7CF1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1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45AED36-B16B-4704-9B7A-0E34291BB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#2 EHL </a:t>
            </a:r>
            <a:r>
              <a:rPr lang="ko-KR" altLang="en-US"/>
              <a:t>윤활해석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D78A093-67C9-4677-A2EB-8A22CA0CAA39}"/>
              </a:ext>
            </a:extLst>
          </p:cNvPr>
          <p:cNvSpPr/>
          <p:nvPr/>
        </p:nvSpPr>
        <p:spPr>
          <a:xfrm>
            <a:off x="3040411" y="1941584"/>
            <a:ext cx="501650" cy="220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99EDBB90-FE60-44F8-831F-813370C1D4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277" y="908720"/>
            <a:ext cx="9501698" cy="379549"/>
          </a:xfrm>
        </p:spPr>
        <p:txBody>
          <a:bodyPr/>
          <a:lstStyle/>
          <a:p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슬라이스 모델 기반 자체 </a:t>
            </a:r>
            <a:r>
              <a:rPr lang="ko-KR" altLang="en-US" dirty="0" err="1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솔버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 개발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115360-5548-423C-9F4F-3AE693569E04}"/>
              </a:ext>
            </a:extLst>
          </p:cNvPr>
          <p:cNvSpPr/>
          <p:nvPr/>
        </p:nvSpPr>
        <p:spPr>
          <a:xfrm>
            <a:off x="204277" y="2647308"/>
            <a:ext cx="8183990" cy="42175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>
                <a:latin typeface="+mn-ea"/>
              </a:rPr>
              <a:t>EHL</a:t>
            </a:r>
            <a:r>
              <a:rPr lang="ko-KR" altLang="en-US" sz="1000" b="1">
                <a:latin typeface="+mn-ea"/>
              </a:rPr>
              <a:t> 윤활해석 분석</a:t>
            </a:r>
            <a:endParaRPr lang="en-US" altLang="ko-KR" sz="1000" b="1"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선접촉 식 출처</a:t>
            </a:r>
            <a:r>
              <a:rPr lang="en-US" altLang="ko-KR" sz="1000">
                <a:latin typeface="+mn-ea"/>
              </a:rPr>
              <a:t>: </a:t>
            </a:r>
            <a:r>
              <a:rPr lang="en-US" altLang="ko-KR" sz="1000"/>
              <a:t>Dowson–Higginson(1977)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i="0">
                <a:effectLst/>
                <a:latin typeface="+mn-ea"/>
              </a:rPr>
              <a:t>점접촉 식 출처</a:t>
            </a:r>
            <a:r>
              <a:rPr lang="en-US" altLang="ko-KR" sz="1000" i="0">
                <a:effectLst/>
                <a:latin typeface="+mn-ea"/>
              </a:rPr>
              <a:t>: </a:t>
            </a:r>
            <a:r>
              <a:rPr lang="en-US" altLang="ko-KR" sz="1000"/>
              <a:t>Hamrock–Dowson(1977)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i="0">
                <a:effectLst/>
                <a:latin typeface="+mn-ea"/>
              </a:rPr>
              <a:t>공통 가정 및 한계</a:t>
            </a:r>
            <a:endParaRPr lang="en-US" altLang="ko-KR" sz="1000" b="1" i="0">
              <a:effectLst/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i="0">
                <a:effectLst/>
                <a:latin typeface="+mn-ea"/>
              </a:rPr>
              <a:t>등온</a:t>
            </a:r>
            <a:r>
              <a:rPr lang="en-US" altLang="ko-KR" sz="1000" i="0">
                <a:effectLst/>
                <a:latin typeface="+mn-ea"/>
              </a:rPr>
              <a:t>(Isothermal) </a:t>
            </a:r>
            <a:r>
              <a:rPr lang="ko-KR" altLang="en-US" sz="1000" i="0">
                <a:effectLst/>
                <a:latin typeface="+mn-ea"/>
              </a:rPr>
              <a:t>→ 온도변화에 따른 점도</a:t>
            </a:r>
            <a:r>
              <a:rPr lang="en-US" altLang="ko-KR" sz="1000" i="0">
                <a:effectLst/>
                <a:latin typeface="+mn-ea"/>
              </a:rPr>
              <a:t>/</a:t>
            </a:r>
            <a:r>
              <a:rPr lang="ko-KR" altLang="en-US" sz="1000" i="0">
                <a:effectLst/>
                <a:latin typeface="+mn-ea"/>
              </a:rPr>
              <a:t>유막 두께 변화 고려 한계</a:t>
            </a:r>
            <a:endParaRPr lang="en-US" altLang="ko-KR" sz="1000" i="0">
              <a:effectLst/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평활면</a:t>
            </a:r>
            <a:r>
              <a:rPr lang="en-US" altLang="ko-KR" sz="1000">
                <a:latin typeface="+mn-ea"/>
              </a:rPr>
              <a:t>(Smooth surface) </a:t>
            </a:r>
            <a:r>
              <a:rPr lang="ko-KR" altLang="en-US" sz="1000">
                <a:latin typeface="+mn-ea"/>
              </a:rPr>
              <a:t>→ 혼합</a:t>
            </a:r>
            <a:r>
              <a:rPr lang="ko-KR" altLang="en-US" sz="1000">
                <a:latin typeface="+mn-ea"/>
                <a:sym typeface="Wingdings" panose="05000000000000000000" pitchFamily="2" charset="2"/>
              </a:rPr>
              <a:t>경계윤활 조건에서 돌기접촉에 따른 유막두께</a:t>
            </a:r>
            <a:r>
              <a:rPr lang="en-US" altLang="ko-KR" sz="1000">
                <a:latin typeface="+mn-ea"/>
                <a:sym typeface="Wingdings" panose="05000000000000000000" pitchFamily="2" charset="2"/>
              </a:rPr>
              <a:t>/</a:t>
            </a:r>
            <a:r>
              <a:rPr lang="ko-KR" altLang="en-US" sz="1000">
                <a:latin typeface="+mn-ea"/>
                <a:sym typeface="Wingdings" panose="05000000000000000000" pitchFamily="2" charset="2"/>
              </a:rPr>
              <a:t>마찰력 변화</a:t>
            </a:r>
            <a:r>
              <a:rPr lang="en-US" altLang="ko-KR" sz="1000">
                <a:latin typeface="+mn-ea"/>
                <a:sym typeface="Wingdings" panose="05000000000000000000" pitchFamily="2" charset="2"/>
              </a:rPr>
              <a:t>, </a:t>
            </a:r>
            <a:r>
              <a:rPr lang="ko-KR" altLang="en-US" sz="1000">
                <a:latin typeface="+mn-ea"/>
                <a:sym typeface="Wingdings" panose="05000000000000000000" pitchFamily="2" charset="2"/>
              </a:rPr>
              <a:t>마찰열 발생 등 고려 한계 </a:t>
            </a:r>
            <a:endParaRPr lang="en-US" altLang="ko-KR" sz="1000" i="0">
              <a:effectLst/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i="0">
                <a:effectLst/>
                <a:latin typeface="+mn-ea"/>
              </a:rPr>
              <a:t>완전급유</a:t>
            </a:r>
            <a:r>
              <a:rPr lang="en-US" altLang="ko-KR" sz="1000" i="0">
                <a:effectLst/>
                <a:latin typeface="+mn-ea"/>
              </a:rPr>
              <a:t>(Fully flooded) </a:t>
            </a:r>
            <a:r>
              <a:rPr lang="ko-KR" altLang="en-US" sz="1000">
                <a:latin typeface="+mn-ea"/>
              </a:rPr>
              <a:t>→ 그리스의 부족윤활 특성에 의한 유막 두께 감소 고려 한계</a:t>
            </a:r>
            <a:endParaRPr lang="en-US" altLang="ko-KR" sz="1000" i="0">
              <a:effectLst/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뉴턴유체 </a:t>
            </a:r>
            <a:r>
              <a:rPr lang="en-US" altLang="ko-KR" sz="1000">
                <a:latin typeface="+mn-ea"/>
              </a:rPr>
              <a:t>+ Barus </a:t>
            </a:r>
            <a:r>
              <a:rPr lang="ko-KR" altLang="en-US" sz="1000">
                <a:latin typeface="+mn-ea"/>
              </a:rPr>
              <a:t>점도식 → 그리스의 비뉴턴유체 특성 및 정교한 비선형적 점도 변화 고려 한계</a:t>
            </a:r>
            <a:endParaRPr lang="en-US" altLang="ko-KR" sz="1000"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메인베어링 작동 조건</a:t>
            </a:r>
            <a:endParaRPr lang="en-US" altLang="ko-KR" sz="1000" b="1"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저속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고하중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그리스 윤활 → 혼합윤활 지배적 </a:t>
            </a:r>
            <a:r>
              <a:rPr lang="en-US" altLang="ko-KR" sz="1000">
                <a:latin typeface="+mn-ea"/>
              </a:rPr>
              <a:t>/ Starvation </a:t>
            </a:r>
            <a:r>
              <a:rPr lang="ko-KR" altLang="en-US" sz="1000">
                <a:latin typeface="+mn-ea"/>
              </a:rPr>
              <a:t>발생↑ </a:t>
            </a:r>
            <a:r>
              <a:rPr lang="en-US" altLang="ko-KR" sz="1000">
                <a:latin typeface="+mn-ea"/>
              </a:rPr>
              <a:t>/ </a:t>
            </a:r>
            <a:r>
              <a:rPr lang="ko-KR" altLang="en-US" sz="1000">
                <a:latin typeface="+mn-ea"/>
              </a:rPr>
              <a:t>고압 발생</a:t>
            </a:r>
            <a:endParaRPr lang="en-US" altLang="ko-KR" sz="1000"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변동풍하중 → 미세 슬립 → 마찰열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에너지 발생</a:t>
            </a:r>
            <a:endParaRPr lang="en-US" altLang="ko-KR" sz="1000"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개선 모델</a:t>
            </a:r>
            <a:endParaRPr lang="en-US" altLang="ko-KR" sz="1000" b="1"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등온</a:t>
            </a:r>
            <a:r>
              <a:rPr lang="en-US" altLang="ko-KR" sz="1000">
                <a:latin typeface="+mn-ea"/>
              </a:rPr>
              <a:t>(Isothermal) </a:t>
            </a:r>
            <a:r>
              <a:rPr lang="ko-KR" altLang="en-US" sz="1000">
                <a:latin typeface="+mn-ea"/>
              </a:rPr>
              <a:t>→ </a:t>
            </a:r>
            <a:r>
              <a:rPr lang="en-US" altLang="ko-KR" sz="1000">
                <a:latin typeface="+mn-ea"/>
              </a:rPr>
              <a:t>Murch-Wilson(1975)</a:t>
            </a:r>
            <a:r>
              <a:rPr lang="ko-KR" altLang="en-US" sz="1000">
                <a:latin typeface="+mn-ea"/>
              </a:rPr>
              <a:t> 기반 </a:t>
            </a:r>
            <a:r>
              <a:rPr lang="en-US" altLang="ko-KR" sz="1000">
                <a:latin typeface="+mn-ea"/>
              </a:rPr>
              <a:t>SRR </a:t>
            </a:r>
            <a:r>
              <a:rPr lang="ko-KR" altLang="en-US" sz="1000">
                <a:latin typeface="+mn-ea"/>
              </a:rPr>
              <a:t>고려 열보정계수</a:t>
            </a:r>
            <a:r>
              <a:rPr lang="en-US" altLang="ko-KR" sz="1000">
                <a:latin typeface="+mn-ea"/>
              </a:rPr>
              <a:t>(</a:t>
            </a:r>
            <a:r>
              <a:rPr lang="el-GR" altLang="ko-KR" sz="1000">
                <a:latin typeface="+mn-ea"/>
              </a:rPr>
              <a:t>φ_</a:t>
            </a:r>
            <a:r>
              <a:rPr lang="en-US" altLang="ko-KR" sz="1000">
                <a:latin typeface="+mn-ea"/>
              </a:rPr>
              <a:t>T) </a:t>
            </a:r>
            <a:r>
              <a:rPr lang="ko-KR" altLang="en-US" sz="1000">
                <a:latin typeface="+mn-ea"/>
              </a:rPr>
              <a:t>적용</a:t>
            </a:r>
            <a:endParaRPr lang="en-US" altLang="ko-KR" sz="1000"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평활면</a:t>
            </a:r>
            <a:r>
              <a:rPr lang="en-US" altLang="ko-KR" sz="1000">
                <a:latin typeface="+mn-ea"/>
              </a:rPr>
              <a:t>(Smooth surface) </a:t>
            </a:r>
            <a:r>
              <a:rPr lang="ko-KR" altLang="en-US" sz="1000">
                <a:latin typeface="+mn-ea"/>
              </a:rPr>
              <a:t>→ </a:t>
            </a:r>
            <a:r>
              <a:rPr lang="en-US" altLang="ko-KR" sz="1000">
                <a:latin typeface="+mn-ea"/>
              </a:rPr>
              <a:t>Masjedi-Khonsari(2012) </a:t>
            </a:r>
            <a:r>
              <a:rPr lang="ko-KR" altLang="en-US" sz="1000">
                <a:latin typeface="+mn-ea"/>
              </a:rPr>
              <a:t>기반 돌기접촉 고려 유막두께</a:t>
            </a:r>
            <a:r>
              <a:rPr lang="en-US" altLang="ko-KR" sz="1000">
                <a:latin typeface="+mn-ea"/>
              </a:rPr>
              <a:t>/</a:t>
            </a:r>
            <a:r>
              <a:rPr lang="ko-KR" altLang="en-US" sz="1000">
                <a:latin typeface="+mn-ea"/>
              </a:rPr>
              <a:t>돌기 하중 비율 모델 적용</a:t>
            </a:r>
            <a:endParaRPr lang="en-US" altLang="ko-KR" sz="1000"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완전급유</a:t>
            </a:r>
            <a:r>
              <a:rPr lang="en-US" altLang="ko-KR" sz="1000">
                <a:latin typeface="+mn-ea"/>
              </a:rPr>
              <a:t>(Fully flooded) </a:t>
            </a:r>
            <a:r>
              <a:rPr lang="ko-KR" altLang="en-US" sz="1000">
                <a:latin typeface="+mn-ea"/>
              </a:rPr>
              <a:t>→ 물리기반 모델</a:t>
            </a:r>
            <a:r>
              <a:rPr lang="en-US" altLang="ko-KR" sz="1000">
                <a:latin typeface="+mn-ea"/>
              </a:rPr>
              <a:t>(n*d_pw)</a:t>
            </a: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+ </a:t>
            </a:r>
            <a:r>
              <a:rPr lang="ko-KR" altLang="en-US" sz="1000">
                <a:latin typeface="+mn-ea"/>
              </a:rPr>
              <a:t>및 그리스 유막 감쇠 모델</a:t>
            </a:r>
            <a:r>
              <a:rPr lang="en-US" altLang="ko-KR" sz="1000">
                <a:latin typeface="+mn-ea"/>
              </a:rPr>
              <a:t>(Van Zoelen) </a:t>
            </a:r>
            <a:r>
              <a:rPr lang="ko-KR" altLang="en-US" sz="1000">
                <a:latin typeface="+mn-ea"/>
              </a:rPr>
              <a:t>적용</a:t>
            </a:r>
            <a:r>
              <a:rPr lang="en-US" altLang="ko-KR" sz="1000">
                <a:latin typeface="+mn-ea"/>
              </a:rPr>
              <a:t>(R</a:t>
            </a:r>
            <a:r>
              <a:rPr lang="ko-KR" altLang="en-US" sz="1000">
                <a:latin typeface="+mn-ea"/>
              </a:rPr>
              <a:t>은 </a:t>
            </a:r>
            <a:r>
              <a:rPr lang="en-US" altLang="ko-KR" sz="1000">
                <a:latin typeface="+mn-ea"/>
              </a:rPr>
              <a:t>DIN 51817 </a:t>
            </a:r>
            <a:r>
              <a:rPr lang="ko-KR" altLang="en-US" sz="1000">
                <a:latin typeface="+mn-ea"/>
              </a:rPr>
              <a:t>참고 가능</a:t>
            </a:r>
            <a:r>
              <a:rPr lang="en-US" altLang="ko-KR" sz="1000">
                <a:latin typeface="+mn-ea"/>
              </a:rPr>
              <a:t>)</a:t>
            </a: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>
                <a:latin typeface="+mn-ea"/>
              </a:rPr>
              <a:t>Barus </a:t>
            </a:r>
            <a:r>
              <a:rPr lang="ko-KR" altLang="en-US" sz="1000">
                <a:latin typeface="+mn-ea"/>
              </a:rPr>
              <a:t>점도식 → </a:t>
            </a:r>
            <a:r>
              <a:rPr lang="en-US" altLang="ko-KR" sz="1000">
                <a:latin typeface="+mn-ea"/>
              </a:rPr>
              <a:t>Roelands </a:t>
            </a:r>
            <a:r>
              <a:rPr lang="ko-KR" altLang="en-US" sz="1000">
                <a:latin typeface="+mn-ea"/>
              </a:rPr>
              <a:t>모델 적용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고압 점도 예측 현실화</a:t>
            </a:r>
            <a:r>
              <a:rPr lang="en-US" altLang="ko-KR" sz="1000">
                <a:latin typeface="+mn-ea"/>
              </a:rPr>
              <a:t>, Barus</a:t>
            </a:r>
            <a:r>
              <a:rPr lang="ko-KR" altLang="en-US" sz="1000">
                <a:latin typeface="+mn-ea"/>
              </a:rPr>
              <a:t>는 과대평가 → 유막 과대평가</a:t>
            </a:r>
            <a:r>
              <a:rPr lang="en-US" altLang="ko-KR" sz="1000">
                <a:latin typeface="+mn-ea"/>
              </a:rPr>
              <a:t>)</a:t>
            </a: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뉴턴유체 → 구름접촉 우세 조건에서는 전단율 낮아 전단희박화</a:t>
            </a:r>
            <a:r>
              <a:rPr lang="en-US" altLang="ko-KR" sz="1000">
                <a:latin typeface="+mn-ea"/>
              </a:rPr>
              <a:t>(Shear thinning)</a:t>
            </a:r>
            <a:r>
              <a:rPr lang="ko-KR" altLang="en-US" sz="1000">
                <a:latin typeface="+mn-ea"/>
              </a:rPr>
              <a:t>에 따른 유막두께 영향 낮음</a:t>
            </a:r>
            <a:br>
              <a:rPr lang="en-US" altLang="ko-KR" sz="1000">
                <a:latin typeface="+mn-ea"/>
              </a:rPr>
            </a:br>
            <a:r>
              <a:rPr lang="en-US" altLang="ko-KR" sz="1000">
                <a:latin typeface="+mn-ea"/>
              </a:rPr>
              <a:t>                Rib </a:t>
            </a:r>
            <a:r>
              <a:rPr lang="ko-KR" altLang="en-US" sz="1000">
                <a:latin typeface="+mn-ea"/>
              </a:rPr>
              <a:t>쪽 미끄럼 접촉에서는 마찰력 및 손실 예측 시 비뉴턴유체 모델 필요</a:t>
            </a:r>
            <a:endParaRPr lang="en-US" altLang="ko-KR" sz="100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F190D3-0907-4137-B0F6-D3B7AE54D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29" y="1504484"/>
            <a:ext cx="3963571" cy="8640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77C0FA9-64C1-475F-9C3E-606F1AAC4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819" y="1508361"/>
            <a:ext cx="4032448" cy="9517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957CF83-ECCE-4B9D-927F-DC160F6F3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819" y="626173"/>
            <a:ext cx="4434788" cy="6861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7B5AD9F-D979-4F59-944C-2A1388412A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8275" y="2891732"/>
            <a:ext cx="3456377" cy="29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021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69A944F-306C-4A02-AA78-D755C7CF1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2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45AED36-B16B-4704-9B7A-0E34291BB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#2 EHL </a:t>
            </a:r>
            <a:r>
              <a:rPr lang="ko-KR" altLang="en-US"/>
              <a:t>윤활해석</a:t>
            </a:r>
            <a:endParaRPr lang="ko-KR" altLang="en-US" dirty="0"/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99EDBB90-FE60-44F8-831F-813370C1D4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277" y="908720"/>
            <a:ext cx="9501698" cy="379549"/>
          </a:xfrm>
        </p:spPr>
        <p:txBody>
          <a:bodyPr/>
          <a:lstStyle/>
          <a:p>
            <a:r>
              <a: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열보정 계수 정리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C22D625-4F88-427D-9359-6B28BD1F6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330" y="1504292"/>
            <a:ext cx="4666552" cy="254165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82CFB06-9400-4B84-BC15-68FEE9E83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63" y="1504293"/>
            <a:ext cx="3369034" cy="254165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3229785-2CDE-420C-91FD-6E787653CF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5529" y="4463033"/>
            <a:ext cx="3264065" cy="201485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2253CAA-CE42-4A3B-951B-2E1E730D7F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891" y="4347053"/>
            <a:ext cx="3482006" cy="224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36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8B2A66-06AE-49D5-91F5-8A90E9ACE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3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3B7A4D8-9DA5-44EE-BD64-A7351A89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#2 EHL </a:t>
            </a:r>
            <a:r>
              <a:rPr lang="ko-KR" altLang="en-US"/>
              <a:t>윤활해석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997E6E-067E-429F-97D3-29CA0F2526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열보정 계수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373085-C251-45B5-A177-355248D43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04" y="1554297"/>
            <a:ext cx="2952328" cy="190765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6BBCE29-F919-4C42-9606-C77D0F54F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529" y="1461721"/>
            <a:ext cx="4588158" cy="36933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60B36D9-F758-4E35-8AE8-5B39A25B0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495" y="3856701"/>
            <a:ext cx="3477803" cy="274364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697CFEA-F6D3-4C66-A57C-6C3A46FA14A8}"/>
              </a:ext>
            </a:extLst>
          </p:cNvPr>
          <p:cNvSpPr/>
          <p:nvPr/>
        </p:nvSpPr>
        <p:spPr>
          <a:xfrm>
            <a:off x="4736976" y="5396279"/>
            <a:ext cx="45881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0000FF"/>
                </a:solidFill>
                <a:latin typeface="+mn-ea"/>
              </a:rPr>
              <a:t>Gupta(1992) </a:t>
            </a:r>
            <a:r>
              <a:rPr lang="ko-KR" altLang="en-US">
                <a:solidFill>
                  <a:srgbClr val="0000FF"/>
                </a:solidFill>
                <a:latin typeface="+mn-ea"/>
              </a:rPr>
              <a:t>식을 쓰는 것이 맞다</a:t>
            </a:r>
            <a:endParaRPr lang="en-US" altLang="ko-KR">
              <a:solidFill>
                <a:srgbClr val="0000FF"/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rgbClr val="0000FF"/>
                </a:solidFill>
                <a:latin typeface="+mn-ea"/>
              </a:rPr>
              <a:t>구름속도</a:t>
            </a:r>
            <a:r>
              <a:rPr lang="en-US" altLang="ko-KR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>
                <a:solidFill>
                  <a:srgbClr val="0000FF"/>
                </a:solidFill>
                <a:latin typeface="+mn-ea"/>
              </a:rPr>
              <a:t>슬라이딩 속도 모두 포함</a:t>
            </a:r>
            <a:endParaRPr lang="en-US" altLang="ko-KR">
              <a:solidFill>
                <a:srgbClr val="0000FF"/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0000FF"/>
                </a:solidFill>
              </a:rPr>
              <a:t>AI</a:t>
            </a:r>
            <a:r>
              <a:rPr lang="ko-KR" altLang="en-US">
                <a:solidFill>
                  <a:srgbClr val="0000FF"/>
                </a:solidFill>
              </a:rPr>
              <a:t>의 수식은 틀림</a:t>
            </a:r>
          </a:p>
        </p:txBody>
      </p:sp>
    </p:spTree>
    <p:extLst>
      <p:ext uri="{BB962C8B-B14F-4D97-AF65-F5344CB8AC3E}">
        <p14:creationId xmlns:p14="http://schemas.microsoft.com/office/powerpoint/2010/main" val="3834062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8B2A66-06AE-49D5-91F5-8A90E9ACE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4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3B7A4D8-9DA5-44EE-BD64-A7351A89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#2 EHL </a:t>
            </a:r>
            <a:r>
              <a:rPr lang="ko-KR" altLang="en-US"/>
              <a:t>윤활해석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997E6E-067E-429F-97D3-29CA0F2526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점도 보정 관계식 정리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697CFEA-F6D3-4C66-A57C-6C3A46FA14A8}"/>
              </a:ext>
            </a:extLst>
          </p:cNvPr>
          <p:cNvSpPr/>
          <p:nvPr/>
        </p:nvSpPr>
        <p:spPr>
          <a:xfrm>
            <a:off x="4736976" y="5396279"/>
            <a:ext cx="45881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0000FF"/>
                </a:solidFill>
                <a:latin typeface="+mn-ea"/>
              </a:rPr>
              <a:t>AI </a:t>
            </a:r>
            <a:r>
              <a:rPr lang="ko-KR" altLang="en-US">
                <a:solidFill>
                  <a:srgbClr val="0000FF"/>
                </a:solidFill>
                <a:latin typeface="+mn-ea"/>
              </a:rPr>
              <a:t>수식이 책 수식과 다름</a:t>
            </a:r>
            <a:endParaRPr lang="en-US" altLang="ko-KR">
              <a:solidFill>
                <a:srgbClr val="0000FF"/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rgbClr val="0000FF"/>
                </a:solidFill>
                <a:latin typeface="+mn-ea"/>
              </a:rPr>
              <a:t>검토 필요</a:t>
            </a:r>
            <a:endParaRPr lang="en-US" altLang="ko-KR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359F0FD-FA4D-4C03-AE13-9CDB03426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043" y="1569290"/>
            <a:ext cx="3334326" cy="200554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74544F1-B9E6-438F-9F30-D68D0CCD4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648501"/>
            <a:ext cx="4041502" cy="318823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E52501E-5D8F-4E71-A5DD-4250FB8F4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47" y="4981586"/>
            <a:ext cx="1229082" cy="175271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8FCA47-B822-40BC-9BDD-BD2E0642B8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3717032"/>
            <a:ext cx="3168352" cy="11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405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D18DADA-54FF-435D-BB6B-E572C73C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5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61C7083-DBED-4E46-A45C-AFAEA180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#2 EHL </a:t>
            </a:r>
            <a:r>
              <a:rPr lang="ko-KR" altLang="en-US"/>
              <a:t>윤활해석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B30BFDF-5A89-4414-9247-25A0CAED1F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압력</a:t>
            </a:r>
            <a:r>
              <a:rPr lang="en-US" altLang="ko-KR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-</a:t>
            </a:r>
            <a:r>
              <a: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점도 계수 범위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3EE630-D555-4563-B9B9-AB6F8764C9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270"/>
          <a:stretch/>
        </p:blipFill>
        <p:spPr>
          <a:xfrm>
            <a:off x="224330" y="2195319"/>
            <a:ext cx="4941910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065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D18DADA-54FF-435D-BB6B-E572C73C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6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61C7083-DBED-4E46-A45C-AFAEA180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#2 EHL </a:t>
            </a:r>
            <a:r>
              <a:rPr lang="ko-KR" altLang="en-US"/>
              <a:t>윤활해석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B30BFDF-5A89-4414-9247-25A0CAED1F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ISO 281 </a:t>
            </a:r>
            <a:r>
              <a: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윤활모델 정리 </a:t>
            </a:r>
            <a:r>
              <a:rPr lang="en-US" altLang="ko-KR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(Kappa, Lambda ratio, a_iso </a:t>
            </a:r>
            <a:r>
              <a: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등</a:t>
            </a:r>
            <a:r>
              <a:rPr lang="en-US" altLang="ko-KR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)</a:t>
            </a:r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56F0C51-219B-4FF9-9877-B70797BE1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49" y="1784369"/>
            <a:ext cx="4464496" cy="50157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C6ED815-2E93-4A5E-B2ED-5BE061378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293" y="1504293"/>
            <a:ext cx="3724163" cy="5085184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A413148-5559-4AF9-9EF7-B4EC9006EC3F}"/>
              </a:ext>
            </a:extLst>
          </p:cNvPr>
          <p:cNvCxnSpPr/>
          <p:nvPr/>
        </p:nvCxnSpPr>
        <p:spPr>
          <a:xfrm>
            <a:off x="704528" y="5013176"/>
            <a:ext cx="410445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50E4A0F-59ED-46A1-87F6-F1AC46E251E8}"/>
              </a:ext>
            </a:extLst>
          </p:cNvPr>
          <p:cNvCxnSpPr>
            <a:cxnSpLocks/>
          </p:cNvCxnSpPr>
          <p:nvPr/>
        </p:nvCxnSpPr>
        <p:spPr>
          <a:xfrm>
            <a:off x="704528" y="5118442"/>
            <a:ext cx="79208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514E536-20DA-4E07-9297-75A4FEFFDC63}"/>
              </a:ext>
            </a:extLst>
          </p:cNvPr>
          <p:cNvCxnSpPr>
            <a:cxnSpLocks/>
          </p:cNvCxnSpPr>
          <p:nvPr/>
        </p:nvCxnSpPr>
        <p:spPr>
          <a:xfrm>
            <a:off x="704528" y="5895030"/>
            <a:ext cx="4032448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10A7002-175F-4353-ADE2-70E3A852309B}"/>
              </a:ext>
            </a:extLst>
          </p:cNvPr>
          <p:cNvCxnSpPr>
            <a:cxnSpLocks/>
          </p:cNvCxnSpPr>
          <p:nvPr/>
        </p:nvCxnSpPr>
        <p:spPr>
          <a:xfrm>
            <a:off x="4376936" y="5988028"/>
            <a:ext cx="36004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54BADFB-A3D6-4BFB-8822-9A011A41C158}"/>
              </a:ext>
            </a:extLst>
          </p:cNvPr>
          <p:cNvCxnSpPr>
            <a:cxnSpLocks/>
          </p:cNvCxnSpPr>
          <p:nvPr/>
        </p:nvCxnSpPr>
        <p:spPr>
          <a:xfrm>
            <a:off x="692903" y="6073921"/>
            <a:ext cx="274792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3D3824B-1A68-4F77-9D6B-3F4AC76A11FA}"/>
              </a:ext>
            </a:extLst>
          </p:cNvPr>
          <p:cNvCxnSpPr>
            <a:cxnSpLocks/>
          </p:cNvCxnSpPr>
          <p:nvPr/>
        </p:nvCxnSpPr>
        <p:spPr>
          <a:xfrm>
            <a:off x="692903" y="5983372"/>
            <a:ext cx="2819937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EDCB094-C870-4661-A818-7C45DE2EE13F}"/>
              </a:ext>
            </a:extLst>
          </p:cNvPr>
          <p:cNvCxnSpPr>
            <a:cxnSpLocks/>
          </p:cNvCxnSpPr>
          <p:nvPr/>
        </p:nvCxnSpPr>
        <p:spPr>
          <a:xfrm>
            <a:off x="2144688" y="5490107"/>
            <a:ext cx="187220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1E531AC5-CCF5-4C37-9733-843337762109}"/>
              </a:ext>
            </a:extLst>
          </p:cNvPr>
          <p:cNvCxnSpPr/>
          <p:nvPr/>
        </p:nvCxnSpPr>
        <p:spPr>
          <a:xfrm>
            <a:off x="690529" y="3429000"/>
            <a:ext cx="410445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C7F86F1-02BC-409C-BC38-8C0701AB17F4}"/>
              </a:ext>
            </a:extLst>
          </p:cNvPr>
          <p:cNvCxnSpPr>
            <a:cxnSpLocks/>
          </p:cNvCxnSpPr>
          <p:nvPr/>
        </p:nvCxnSpPr>
        <p:spPr>
          <a:xfrm>
            <a:off x="694514" y="3542016"/>
            <a:ext cx="267431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BF633A9-BE0E-42BD-8194-7C70A6B401AB}"/>
              </a:ext>
            </a:extLst>
          </p:cNvPr>
          <p:cNvCxnSpPr>
            <a:cxnSpLocks/>
          </p:cNvCxnSpPr>
          <p:nvPr/>
        </p:nvCxnSpPr>
        <p:spPr>
          <a:xfrm>
            <a:off x="5416048" y="1905207"/>
            <a:ext cx="34973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48DB87E-FF97-42B9-9745-623B8F885D25}"/>
              </a:ext>
            </a:extLst>
          </p:cNvPr>
          <p:cNvCxnSpPr>
            <a:cxnSpLocks/>
          </p:cNvCxnSpPr>
          <p:nvPr/>
        </p:nvCxnSpPr>
        <p:spPr>
          <a:xfrm>
            <a:off x="5416048" y="1988840"/>
            <a:ext cx="256128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658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D18DADA-54FF-435D-BB6B-E572C73C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7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61C7083-DBED-4E46-A45C-AFAEA180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#2 EHL </a:t>
            </a:r>
            <a:r>
              <a:rPr lang="ko-KR" altLang="en-US"/>
              <a:t>윤활해석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B30BFDF-5A89-4414-9247-25A0CAED1F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ISO 281 </a:t>
            </a:r>
            <a:r>
              <a: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윤활모델 정리 </a:t>
            </a:r>
            <a:r>
              <a:rPr lang="en-US" altLang="ko-KR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(Kappa, Lambda ratio, a_iso </a:t>
            </a:r>
            <a:r>
              <a: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등</a:t>
            </a:r>
            <a:r>
              <a:rPr lang="en-US" altLang="ko-KR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)</a:t>
            </a:r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1CB1BF5-ADAC-4C3A-AD6E-F2BB71976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1515164"/>
            <a:ext cx="3988769" cy="5085184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2B16EE0-4424-4F11-82EF-974D07E1BA69}"/>
              </a:ext>
            </a:extLst>
          </p:cNvPr>
          <p:cNvCxnSpPr>
            <a:cxnSpLocks/>
          </p:cNvCxnSpPr>
          <p:nvPr/>
        </p:nvCxnSpPr>
        <p:spPr>
          <a:xfrm>
            <a:off x="560512" y="2348880"/>
            <a:ext cx="15841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C674985-1BBB-4CE0-8CB8-56C41E598922}"/>
              </a:ext>
            </a:extLst>
          </p:cNvPr>
          <p:cNvCxnSpPr>
            <a:cxnSpLocks/>
          </p:cNvCxnSpPr>
          <p:nvPr/>
        </p:nvCxnSpPr>
        <p:spPr>
          <a:xfrm>
            <a:off x="562124" y="2508396"/>
            <a:ext cx="3526780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EE4B165-7306-4AF4-BE54-7681679F1C28}"/>
              </a:ext>
            </a:extLst>
          </p:cNvPr>
          <p:cNvCxnSpPr>
            <a:cxnSpLocks/>
          </p:cNvCxnSpPr>
          <p:nvPr/>
        </p:nvCxnSpPr>
        <p:spPr>
          <a:xfrm>
            <a:off x="560512" y="2609787"/>
            <a:ext cx="223224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4459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CF2CE8-C870-4DD4-BD59-6CB4A8B61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8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575C638-62F9-4107-9A23-70AF860F8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#2 EHL </a:t>
            </a:r>
            <a:r>
              <a:rPr lang="ko-KR" altLang="en-US"/>
              <a:t>윤활해석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6B7489-DA6B-465B-BDEB-A371989667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TRB</a:t>
            </a:r>
            <a:r>
              <a:rPr lang="ko-KR" altLang="en-US"/>
              <a:t> </a:t>
            </a:r>
            <a:r>
              <a:rPr lang="en-US" altLang="ko-KR"/>
              <a:t>SW</a:t>
            </a:r>
            <a:r>
              <a:rPr lang="ko-KR" altLang="en-US"/>
              <a:t> 조도 이중 반영 문제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58C658E-7111-4808-97D6-A99AEC071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324" y="1696677"/>
            <a:ext cx="8121352" cy="444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499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55C538D-3572-43E9-AA94-6E1F3EFD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9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F324DB8-6B5E-42FC-92A7-56643813D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#2 EHL </a:t>
            </a:r>
            <a:r>
              <a:rPr lang="ko-KR" altLang="en-US"/>
              <a:t>윤활해석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31DCF7-D9F9-4D64-BF4D-AA8BC14D25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ISO 281 </a:t>
            </a:r>
            <a:r>
              <a:rPr lang="ko-KR" altLang="en-US"/>
              <a:t>역사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290690-1909-4195-89EF-9041CB81E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853" y="1699888"/>
            <a:ext cx="5734295" cy="417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091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69A944F-306C-4A02-AA78-D755C7CF1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10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45AED36-B16B-4704-9B7A-0E34291BB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#3 </a:t>
            </a:r>
            <a:r>
              <a:rPr lang="ko-KR" altLang="en-US"/>
              <a:t>표면하</a:t>
            </a:r>
            <a:r>
              <a:rPr lang="ko-KR" altLang="en-US">
                <a:sym typeface="Wingdings" panose="05000000000000000000" pitchFamily="2" charset="2"/>
              </a:rPr>
              <a:t>표면피로수명 예측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D78A093-67C9-4677-A2EB-8A22CA0CAA39}"/>
              </a:ext>
            </a:extLst>
          </p:cNvPr>
          <p:cNvSpPr/>
          <p:nvPr/>
        </p:nvSpPr>
        <p:spPr>
          <a:xfrm>
            <a:off x="3136900" y="3323979"/>
            <a:ext cx="501650" cy="220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98DE0F3F-D8AE-43CC-98F7-38C1B19B4A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277" y="908720"/>
            <a:ext cx="9501698" cy="379549"/>
          </a:xfrm>
        </p:spPr>
        <p:txBody>
          <a:bodyPr/>
          <a:lstStyle/>
          <a:p>
            <a:r>
              <a: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표면피로 모델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EB32910-AFCF-47AF-9310-A293A016AAC8}"/>
              </a:ext>
            </a:extLst>
          </p:cNvPr>
          <p:cNvSpPr/>
          <p:nvPr/>
        </p:nvSpPr>
        <p:spPr>
          <a:xfrm>
            <a:off x="204277" y="1435412"/>
            <a:ext cx="8183990" cy="237558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>
                <a:latin typeface="+mn-ea"/>
              </a:rPr>
              <a:t>표면피로 </a:t>
            </a:r>
            <a:r>
              <a:rPr lang="en-US" altLang="ko-KR" sz="1000" b="1">
                <a:latin typeface="+mn-ea"/>
              </a:rPr>
              <a:t>2015 </a:t>
            </a:r>
            <a:r>
              <a:rPr lang="ko-KR" altLang="en-US" sz="1000" b="1">
                <a:latin typeface="+mn-ea"/>
              </a:rPr>
              <a:t>논문 요약</a:t>
            </a:r>
            <a:endParaRPr lang="en-US" altLang="ko-KR" sz="1000" b="1">
              <a:latin typeface="+mn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000" b="1">
                <a:latin typeface="+mn-ea"/>
              </a:rPr>
              <a:t>초록</a:t>
            </a:r>
            <a:endParaRPr lang="en-US" altLang="ko-KR" sz="1000" b="1"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기존 구름베어링 수명 추정 →</a:t>
            </a:r>
            <a:r>
              <a:rPr lang="en-US" altLang="ko-KR" sz="1000">
                <a:latin typeface="+mn-ea"/>
              </a:rPr>
              <a:t> </a:t>
            </a:r>
            <a:r>
              <a:rPr lang="ko-KR" altLang="en-US" sz="1000">
                <a:latin typeface="+mn-ea"/>
              </a:rPr>
              <a:t>표면하 등가응력이 응력체적에 작용하는 모델 적용</a:t>
            </a:r>
            <a:endParaRPr lang="en-US" altLang="ko-KR" sz="1000"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저윤활</a:t>
            </a:r>
            <a:r>
              <a:rPr lang="ko-KR" altLang="en-US" sz="1000">
                <a:latin typeface="+mn-ea"/>
                <a:sym typeface="Wingdings" panose="05000000000000000000" pitchFamily="2" charset="2"/>
              </a:rPr>
              <a:t>오염 효과</a:t>
            </a:r>
            <a:r>
              <a:rPr lang="ko-KR" altLang="en-US" sz="1000">
                <a:latin typeface="+mn-ea"/>
              </a:rPr>
              <a:t> → 전체 등가응력에 페널티를 가하는 방식으로 수명 반영 </a:t>
            </a:r>
            <a:r>
              <a:rPr lang="en-US" altLang="ko-KR" sz="1000">
                <a:latin typeface="+mn-ea"/>
              </a:rPr>
              <a:t>(a_iso)</a:t>
            </a: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이런 단순화는 표면피로를 설명하기 어렵다고 주장</a:t>
            </a:r>
            <a:endParaRPr lang="en-US" altLang="ko-KR" sz="1000"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이에 표면피로를 기본 피로방정식에 명시적으로 정식화하여 해결</a:t>
            </a:r>
            <a:endParaRPr lang="en-US" altLang="ko-KR" sz="1000"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기존 표면하 피로와 표면피로를 결합하고 경쟁 메커니즘을 도입</a:t>
            </a:r>
            <a:endParaRPr lang="en-US" altLang="ko-KR" sz="1000">
              <a:latin typeface="+mn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000" b="1">
                <a:latin typeface="+mn-ea"/>
              </a:rPr>
              <a:t>서론</a:t>
            </a:r>
            <a:endParaRPr lang="en-US" altLang="ko-KR" sz="1000" b="1"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베어링 수명 이론 계보</a:t>
            </a:r>
            <a:r>
              <a:rPr lang="en-US" altLang="ko-KR" sz="1000">
                <a:latin typeface="+mn-ea"/>
              </a:rPr>
              <a:t>: L.P </a:t>
            </a:r>
            <a:r>
              <a:rPr lang="ko-KR" altLang="en-US" sz="1000">
                <a:latin typeface="+mn-ea"/>
              </a:rPr>
              <a:t>→ </a:t>
            </a:r>
            <a:r>
              <a:rPr lang="en-US" altLang="ko-KR" sz="1000">
                <a:latin typeface="+mn-ea"/>
              </a:rPr>
              <a:t>I.H </a:t>
            </a:r>
            <a:r>
              <a:rPr lang="ko-KR" altLang="en-US" sz="1000">
                <a:latin typeface="+mn-ea"/>
              </a:rPr>
              <a:t>→ </a:t>
            </a:r>
            <a:r>
              <a:rPr lang="en-US" altLang="ko-KR" sz="1000">
                <a:latin typeface="+mn-ea"/>
              </a:rPr>
              <a:t>ISO 281:2007</a:t>
            </a: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현대 트렌드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고속</a:t>
            </a:r>
            <a:r>
              <a:rPr lang="ko-KR" altLang="en-US" sz="1000">
                <a:latin typeface="+mn-ea"/>
                <a:sym typeface="Wingdings" panose="05000000000000000000" pitchFamily="2" charset="2"/>
              </a:rPr>
              <a:t>박막오염</a:t>
            </a:r>
            <a:r>
              <a:rPr lang="en-US" altLang="ko-KR" sz="1000">
                <a:latin typeface="+mn-ea"/>
                <a:sym typeface="Wingdings" panose="05000000000000000000" pitchFamily="2" charset="2"/>
              </a:rPr>
              <a:t>)</a:t>
            </a:r>
            <a:r>
              <a:rPr lang="en-US" altLang="ko-KR" sz="1000">
                <a:latin typeface="+mn-ea"/>
              </a:rPr>
              <a:t> </a:t>
            </a:r>
            <a:r>
              <a:rPr lang="ko-KR" altLang="en-US" sz="1000">
                <a:latin typeface="+mn-ea"/>
              </a:rPr>
              <a:t>→ 표면피로 증가 → 일반화 모델 필요</a:t>
            </a:r>
            <a:endParaRPr lang="en-US" altLang="ko-KR" sz="1000"/>
          </a:p>
        </p:txBody>
      </p:sp>
    </p:spTree>
    <p:extLst>
      <p:ext uri="{BB962C8B-B14F-4D97-AF65-F5344CB8AC3E}">
        <p14:creationId xmlns:p14="http://schemas.microsoft.com/office/powerpoint/2010/main" val="2566042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69A944F-306C-4A02-AA78-D755C7CF1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11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45AED36-B16B-4704-9B7A-0E34291BB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#3 </a:t>
            </a:r>
            <a:r>
              <a:rPr lang="ko-KR" altLang="en-US"/>
              <a:t>표면하</a:t>
            </a:r>
            <a:r>
              <a:rPr lang="ko-KR" altLang="en-US">
                <a:sym typeface="Wingdings" panose="05000000000000000000" pitchFamily="2" charset="2"/>
              </a:rPr>
              <a:t>표면피로수명 예측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D78A093-67C9-4677-A2EB-8A22CA0CAA39}"/>
              </a:ext>
            </a:extLst>
          </p:cNvPr>
          <p:cNvSpPr/>
          <p:nvPr/>
        </p:nvSpPr>
        <p:spPr>
          <a:xfrm>
            <a:off x="3136900" y="3323979"/>
            <a:ext cx="501650" cy="220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1E2474D3-CB3D-4BCC-9E05-D262730428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277" y="908720"/>
            <a:ext cx="9501698" cy="379549"/>
          </a:xfrm>
        </p:spPr>
        <p:txBody>
          <a:bodyPr/>
          <a:lstStyle/>
          <a:p>
            <a:r>
              <a: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표면피로 모델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E37995D-5838-4C95-9A66-3B6B73865491}"/>
              </a:ext>
            </a:extLst>
          </p:cNvPr>
          <p:cNvSpPr/>
          <p:nvPr/>
        </p:nvSpPr>
        <p:spPr>
          <a:xfrm>
            <a:off x="204277" y="1435412"/>
            <a:ext cx="5684827" cy="306340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>
                <a:latin typeface="+mn-ea"/>
              </a:rPr>
              <a:t>딥리서치 내용 정리</a:t>
            </a:r>
            <a:endParaRPr lang="en-US" altLang="ko-KR" sz="1000" b="1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000" b="1">
                <a:latin typeface="+mn-ea"/>
              </a:rPr>
              <a:t>2.2 IS, IB </a:t>
            </a:r>
            <a:r>
              <a:rPr lang="ko-KR" altLang="en-US" sz="1000" b="1">
                <a:latin typeface="+mn-ea"/>
              </a:rPr>
              <a:t>정의</a:t>
            </a:r>
            <a:endParaRPr lang="en-US" altLang="ko-KR" sz="1000" b="1"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u="sng">
                <a:latin typeface="+mn-ea"/>
              </a:rPr>
              <a:t>IS </a:t>
            </a:r>
            <a:r>
              <a:rPr lang="ko-KR" altLang="en-US" sz="1000" u="sng">
                <a:latin typeface="+mn-ea"/>
              </a:rPr>
              <a:t>내에 응력 형태 및 피로 한계 응력 미지수</a:t>
            </a:r>
            <a:endParaRPr lang="en-US" altLang="ko-KR" sz="1000" u="sng">
              <a:latin typeface="+mn-ea"/>
            </a:endParaRP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>
                <a:latin typeface="+mn-ea"/>
              </a:rPr>
              <a:t>2015 </a:t>
            </a:r>
            <a:r>
              <a:rPr lang="ko-KR" altLang="en-US" sz="1000">
                <a:latin typeface="+mn-ea"/>
              </a:rPr>
              <a:t>논문에서는 피로 한계 응력으로 </a:t>
            </a:r>
            <a:r>
              <a:rPr lang="en-US" altLang="ko-KR" sz="1000">
                <a:latin typeface="+mn-ea"/>
              </a:rPr>
              <a:t>Dang Van criterion </a:t>
            </a:r>
            <a:r>
              <a:rPr lang="ko-KR" altLang="en-US" sz="1000">
                <a:latin typeface="+mn-ea"/>
              </a:rPr>
              <a:t>사용</a:t>
            </a:r>
            <a:endParaRPr lang="en-US" altLang="ko-KR" sz="1000">
              <a:latin typeface="+mn-ea"/>
            </a:endParaRP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표면 적분 시 시간에 따라 거칠기가 변화하기 때문에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적분 값도 시간에 따라 변함</a:t>
            </a:r>
            <a:r>
              <a:rPr lang="en-US" altLang="ko-KR" sz="1000">
                <a:latin typeface="+mn-ea"/>
              </a:rPr>
              <a:t>.</a:t>
            </a:r>
            <a:br>
              <a:rPr lang="en-US" altLang="ko-KR" sz="1000">
                <a:latin typeface="+mn-ea"/>
              </a:rPr>
            </a:br>
            <a:r>
              <a:rPr lang="ko-KR" altLang="en-US" sz="1000">
                <a:latin typeface="+mn-ea"/>
              </a:rPr>
              <a:t>보수적으로 첫 오버롤링에서의 값과 덜 보수적으로 러닝인</a:t>
            </a:r>
            <a:r>
              <a:rPr lang="en-US" altLang="ko-KR" sz="1000">
                <a:latin typeface="+mn-ea"/>
              </a:rPr>
              <a:t> </a:t>
            </a:r>
            <a:r>
              <a:rPr lang="ko-KR" altLang="en-US" sz="1000">
                <a:latin typeface="+mn-ea"/>
              </a:rPr>
              <a:t>후 수렴된 오버롤링에서의 값을 사용할 수 있는데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일반적으로 후자가 선호됨</a:t>
            </a:r>
            <a:r>
              <a:rPr lang="en-US" altLang="ko-KR" sz="1000">
                <a:latin typeface="+mn-ea"/>
              </a:rPr>
              <a:t> (</a:t>
            </a:r>
            <a:r>
              <a:rPr lang="ko-KR" altLang="en-US" sz="1000">
                <a:latin typeface="+mn-ea"/>
              </a:rPr>
              <a:t>책 </a:t>
            </a:r>
            <a:r>
              <a:rPr lang="en-US" altLang="ko-KR" sz="1000">
                <a:latin typeface="+mn-ea"/>
              </a:rPr>
              <a:t>P. 93)</a:t>
            </a: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rgbClr val="FF0000"/>
                </a:solidFill>
                <a:latin typeface="+mn-ea"/>
              </a:rPr>
              <a:t>마이크로 피팅 예측처럼 </a:t>
            </a:r>
            <a:r>
              <a:rPr lang="en-US" altLang="ko-KR" sz="1000">
                <a:solidFill>
                  <a:srgbClr val="FF0000"/>
                </a:solidFill>
                <a:latin typeface="+mn-ea"/>
              </a:rPr>
              <a:t>Miner rule</a:t>
            </a:r>
            <a:r>
              <a:rPr lang="ko-KR" altLang="en-US" sz="1000">
                <a:solidFill>
                  <a:srgbClr val="FF0000"/>
                </a:solidFill>
                <a:latin typeface="+mn-ea"/>
              </a:rPr>
              <a:t>로 </a:t>
            </a:r>
            <a:r>
              <a:rPr lang="en-US" altLang="ko-KR" sz="1000">
                <a:solidFill>
                  <a:srgbClr val="FF0000"/>
                </a:solidFill>
                <a:latin typeface="+mn-ea"/>
              </a:rPr>
              <a:t>Damage </a:t>
            </a:r>
            <a:r>
              <a:rPr lang="ko-KR" altLang="en-US" sz="1000">
                <a:solidFill>
                  <a:srgbClr val="FF0000"/>
                </a:solidFill>
                <a:latin typeface="+mn-ea"/>
              </a:rPr>
              <a:t>누적 방법 사용하는게 더 정확하지 않나</a:t>
            </a:r>
            <a:r>
              <a:rPr lang="en-US" altLang="ko-KR" sz="1000">
                <a:solidFill>
                  <a:srgbClr val="FF0000"/>
                </a:solidFill>
                <a:latin typeface="+mn-ea"/>
              </a:rPr>
              <a:t>?</a:t>
            </a: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rgbClr val="FF0000"/>
                </a:solidFill>
                <a:latin typeface="+mn-ea"/>
              </a:rPr>
              <a:t>2015 </a:t>
            </a:r>
            <a:r>
              <a:rPr lang="ko-KR" altLang="en-US" sz="1000">
                <a:solidFill>
                  <a:srgbClr val="FF0000"/>
                </a:solidFill>
                <a:latin typeface="+mn-ea"/>
              </a:rPr>
              <a:t>논문을 봤을 때 작동조건이 바뀔 때는 </a:t>
            </a:r>
            <a:r>
              <a:rPr lang="en-US" altLang="ko-KR" sz="1000">
                <a:solidFill>
                  <a:srgbClr val="FF0000"/>
                </a:solidFill>
                <a:latin typeface="+mn-ea"/>
              </a:rPr>
              <a:t>Miner rule</a:t>
            </a:r>
            <a:r>
              <a:rPr lang="ko-KR" altLang="en-US" sz="1000">
                <a:solidFill>
                  <a:srgbClr val="FF0000"/>
                </a:solidFill>
                <a:latin typeface="+mn-ea"/>
              </a:rPr>
              <a:t>로 누적을 하는데</a:t>
            </a:r>
            <a:r>
              <a:rPr lang="en-US" altLang="ko-KR" sz="100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000">
                <a:solidFill>
                  <a:srgbClr val="FF0000"/>
                </a:solidFill>
                <a:latin typeface="+mn-ea"/>
              </a:rPr>
              <a:t>한 작동조건 내에서 표면형상이 바뀌는 것에 대해서는 누적을 한다는 얘기는 없음</a:t>
            </a:r>
            <a:endParaRPr lang="en-US" altLang="ko-KR" sz="1000">
              <a:solidFill>
                <a:srgbClr val="FF0000"/>
              </a:solidFill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u="sng">
                <a:latin typeface="+mn-ea"/>
              </a:rPr>
              <a:t>IB</a:t>
            </a:r>
            <a:r>
              <a:rPr lang="ko-KR" altLang="en-US" sz="1000" u="sng">
                <a:latin typeface="+mn-ea"/>
              </a:rPr>
              <a:t>는 전단응력 및 피로 한계 전단응력 사용</a:t>
            </a:r>
            <a:endParaRPr lang="en-US" altLang="ko-KR" sz="1000" u="sng"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u="sng">
                <a:latin typeface="+mn-ea"/>
              </a:rPr>
              <a:t>IS </a:t>
            </a:r>
            <a:r>
              <a:rPr lang="ko-KR" altLang="en-US" sz="1000" u="sng">
                <a:latin typeface="+mn-ea"/>
              </a:rPr>
              <a:t>계산 시 응력 종류가 명시되지 않음</a:t>
            </a:r>
            <a:r>
              <a:rPr lang="en-US" altLang="ko-KR" sz="1000" u="sng">
                <a:latin typeface="+mn-ea"/>
              </a:rPr>
              <a:t>(Hertz: Sigma_z or Von Minses </a:t>
            </a:r>
            <a:r>
              <a:rPr lang="ko-KR" altLang="en-US" sz="1000" u="sng">
                <a:latin typeface="+mn-ea"/>
              </a:rPr>
              <a:t>등</a:t>
            </a:r>
            <a:r>
              <a:rPr lang="en-US" altLang="ko-KR" sz="1000" u="sng">
                <a:latin typeface="+mn-ea"/>
              </a:rPr>
              <a:t>)</a:t>
            </a: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표면 응력은 조도 효과를 고려한 </a:t>
            </a:r>
            <a:r>
              <a:rPr lang="en-US" altLang="ko-KR" sz="1000">
                <a:latin typeface="+mn-ea"/>
              </a:rPr>
              <a:t>Micro EHL </a:t>
            </a:r>
            <a:r>
              <a:rPr lang="ko-KR" altLang="en-US" sz="1000">
                <a:latin typeface="+mn-ea"/>
              </a:rPr>
              <a:t>해석을 통해 정확히 구할 수 있음</a:t>
            </a:r>
            <a:endParaRPr lang="en-US" altLang="ko-KR" sz="100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43F8CE9-62F2-49E5-885B-672BEEC1B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565" y="1449805"/>
            <a:ext cx="3584848" cy="104053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8CE4AE2-0CCB-408C-AB7F-CFFC553B3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662" y="1378357"/>
            <a:ext cx="2819794" cy="14289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AAA037F-62DB-432B-B299-106D2C2B2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840" y="2490338"/>
            <a:ext cx="3676256" cy="131079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9717B21-F849-4DE2-9373-66A4E9126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8840" y="4040447"/>
            <a:ext cx="2152950" cy="50489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E0A2810-11B8-4CE2-91B2-E26F6F7368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8744" y="4121420"/>
            <a:ext cx="1057423" cy="34294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DE0B040-B7C4-46D9-871E-9429690181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7961" y="5394410"/>
            <a:ext cx="3637135" cy="46173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C29355D-B0DD-42A4-8BCF-37E96978F4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446" y="4617402"/>
            <a:ext cx="1209844" cy="70494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3BE5EA9-C229-4CD2-8C12-8124F12D3B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7961" y="5876102"/>
            <a:ext cx="1047896" cy="59063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5D82A69-FD55-4554-AB5A-6E5BA69BE9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6384" y="5949280"/>
            <a:ext cx="1880401" cy="64551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854472F-4F23-40D8-95ED-55C7A6B4768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0773" y="5441950"/>
            <a:ext cx="3568852" cy="145893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1EA59B7-27D0-4B46-82F8-9BF2B458977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85920" y="408083"/>
            <a:ext cx="2630664" cy="83304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A01A1EA9-A9F1-41EC-875A-882D3E69EC49}"/>
              </a:ext>
            </a:extLst>
          </p:cNvPr>
          <p:cNvSpPr/>
          <p:nvPr/>
        </p:nvSpPr>
        <p:spPr>
          <a:xfrm>
            <a:off x="393261" y="4527266"/>
            <a:ext cx="45881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rgbClr val="0000FF"/>
                </a:solidFill>
                <a:latin typeface="+mn-ea"/>
              </a:rPr>
              <a:t>I_s</a:t>
            </a:r>
            <a:r>
              <a:rPr lang="ko-KR" altLang="en-US" sz="1200">
                <a:solidFill>
                  <a:srgbClr val="0000FF"/>
                </a:solidFill>
                <a:latin typeface="+mn-ea"/>
              </a:rPr>
              <a:t>에 다양한 케이스를 포함하여 일반화 성능 확보</a:t>
            </a:r>
            <a:r>
              <a:rPr lang="en-US" altLang="ko-KR" sz="1200">
                <a:solidFill>
                  <a:srgbClr val="0000FF"/>
                </a:solidFill>
                <a:latin typeface="+mn-ea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rgbClr val="FF0000"/>
                </a:solidFill>
                <a:latin typeface="+mn-ea"/>
              </a:rPr>
              <a:t>A,</a:t>
            </a:r>
            <a:r>
              <a:rPr lang="ko-KR" altLang="en-US" sz="120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200">
                <a:solidFill>
                  <a:srgbClr val="FF0000"/>
                </a:solidFill>
                <a:latin typeface="+mn-ea"/>
              </a:rPr>
              <a:t>B</a:t>
            </a:r>
            <a:r>
              <a:rPr lang="ko-KR" altLang="en-US" sz="1200">
                <a:solidFill>
                  <a:srgbClr val="FF0000"/>
                </a:solidFill>
                <a:latin typeface="+mn-ea"/>
              </a:rPr>
              <a:t>는</a:t>
            </a:r>
            <a:r>
              <a:rPr lang="en-US" altLang="ko-KR" sz="120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200">
                <a:solidFill>
                  <a:srgbClr val="FF0000"/>
                </a:solidFill>
                <a:latin typeface="+mn-ea"/>
              </a:rPr>
              <a:t>특정 시험에 피팅 시키는 것 같은데</a:t>
            </a:r>
            <a:r>
              <a:rPr lang="en-US" altLang="ko-KR" sz="120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>
                <a:solidFill>
                  <a:srgbClr val="FF0000"/>
                </a:solidFill>
                <a:latin typeface="+mn-ea"/>
              </a:rPr>
              <a:t>이렇게 되면</a:t>
            </a:r>
            <a:br>
              <a:rPr lang="en-US" altLang="ko-KR" sz="1200">
                <a:solidFill>
                  <a:srgbClr val="FF0000"/>
                </a:solidFill>
                <a:latin typeface="+mn-ea"/>
              </a:rPr>
            </a:br>
            <a:r>
              <a:rPr lang="en-US" altLang="ko-KR" sz="1200">
                <a:solidFill>
                  <a:srgbClr val="FF0000"/>
                </a:solidFill>
                <a:latin typeface="+mn-ea"/>
              </a:rPr>
              <a:t>K</a:t>
            </a:r>
            <a:r>
              <a:rPr lang="ko-KR" altLang="en-US" sz="1200">
                <a:solidFill>
                  <a:srgbClr val="FF0000"/>
                </a:solidFill>
                <a:latin typeface="+mn-ea"/>
              </a:rPr>
              <a:t>와 무관하게 사이즈</a:t>
            </a:r>
            <a:r>
              <a:rPr lang="en-US" altLang="ko-KR" sz="1200">
                <a:solidFill>
                  <a:srgbClr val="FF0000"/>
                </a:solidFill>
                <a:latin typeface="+mn-ea"/>
              </a:rPr>
              <a:t>/</a:t>
            </a:r>
            <a:r>
              <a:rPr lang="ko-KR" altLang="en-US" sz="1200">
                <a:solidFill>
                  <a:srgbClr val="FF0000"/>
                </a:solidFill>
                <a:latin typeface="+mn-ea"/>
              </a:rPr>
              <a:t>소재가 다른 경우에는 예측력이 </a:t>
            </a:r>
            <a:br>
              <a:rPr lang="en-US" altLang="ko-KR" sz="1200">
                <a:solidFill>
                  <a:srgbClr val="FF0000"/>
                </a:solidFill>
                <a:latin typeface="+mn-ea"/>
              </a:rPr>
            </a:br>
            <a:r>
              <a:rPr lang="ko-KR" altLang="en-US" sz="1200">
                <a:solidFill>
                  <a:srgbClr val="FF0000"/>
                </a:solidFill>
                <a:latin typeface="+mn-ea"/>
              </a:rPr>
              <a:t>충분히 확보된다고 볼 수 있는지 고민</a:t>
            </a:r>
            <a:r>
              <a:rPr lang="en-US" altLang="ko-KR" sz="1200">
                <a:solidFill>
                  <a:srgbClr val="FF0000"/>
                </a:solidFill>
                <a:latin typeface="+mn-ea"/>
              </a:rPr>
              <a:t>/</a:t>
            </a:r>
            <a:r>
              <a:rPr lang="ko-KR" altLang="en-US" sz="1200">
                <a:solidFill>
                  <a:srgbClr val="FF0000"/>
                </a:solidFill>
                <a:latin typeface="+mn-ea"/>
              </a:rPr>
              <a:t>조사</a:t>
            </a:r>
            <a:r>
              <a:rPr lang="en-US" altLang="ko-KR" sz="1200">
                <a:solidFill>
                  <a:srgbClr val="FF0000"/>
                </a:solidFill>
                <a:latin typeface="+mn-ea"/>
              </a:rPr>
              <a:t>/</a:t>
            </a:r>
            <a:r>
              <a:rPr lang="ko-KR" altLang="en-US" sz="1200">
                <a:solidFill>
                  <a:srgbClr val="FF0000"/>
                </a:solidFill>
                <a:latin typeface="+mn-ea"/>
              </a:rPr>
              <a:t>검토 필요 </a:t>
            </a:r>
            <a:endParaRPr lang="en-US" altLang="ko-KR" sz="120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5778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E5BB92A-F439-430F-8634-FCFCC6F7F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12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E650E83-22CA-4D07-B667-400EA45DD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#3 </a:t>
            </a:r>
            <a:r>
              <a:rPr lang="ko-KR" altLang="en-US"/>
              <a:t>표면하</a:t>
            </a:r>
            <a:r>
              <a:rPr lang="ko-KR" altLang="en-US">
                <a:sym typeface="Wingdings" panose="05000000000000000000" pitchFamily="2" charset="2"/>
              </a:rPr>
              <a:t>표면피로수명 예측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7506FC-4C63-464F-BF51-D8A4F40844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표면피로 모델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CF473D9-9668-42D6-9D3C-BE4B0EF3E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040" y="332656"/>
            <a:ext cx="3691627" cy="141353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4890299-8250-4198-A237-DF2C93116D5C}"/>
              </a:ext>
            </a:extLst>
          </p:cNvPr>
          <p:cNvSpPr/>
          <p:nvPr/>
        </p:nvSpPr>
        <p:spPr>
          <a:xfrm>
            <a:off x="204277" y="1435412"/>
            <a:ext cx="4532699" cy="352506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>
                <a:latin typeface="+mn-ea"/>
              </a:rPr>
              <a:t>논문 내용 정리</a:t>
            </a:r>
            <a:endParaRPr lang="en-US" altLang="ko-KR" sz="1000" b="1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000" b="1">
                <a:latin typeface="+mn-ea"/>
              </a:rPr>
              <a:t>2019 Hybrid bearing life model</a:t>
            </a: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u="sng">
                <a:latin typeface="+mn-ea"/>
              </a:rPr>
              <a:t>IS </a:t>
            </a:r>
            <a:r>
              <a:rPr lang="ko-KR" altLang="en-US" sz="1000" u="sng">
                <a:latin typeface="+mn-ea"/>
              </a:rPr>
              <a:t>결정 방법</a:t>
            </a:r>
            <a:endParaRPr lang="en-US" altLang="ko-KR" sz="1000" u="sng">
              <a:latin typeface="+mn-ea"/>
            </a:endParaRP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적분은 수치해석을 통해 수행</a:t>
            </a:r>
            <a:endParaRPr lang="en-US" altLang="ko-KR" sz="1000">
              <a:latin typeface="+mn-ea"/>
            </a:endParaRP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결과적으로 필요한 것은 다양한 조건에서의 회기식</a:t>
            </a:r>
            <a:br>
              <a:rPr lang="en-US" altLang="ko-KR" sz="1000">
                <a:latin typeface="+mn-ea"/>
              </a:rPr>
            </a:b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수치해석 없이 빠른 활용을 위해</a:t>
            </a:r>
            <a:r>
              <a:rPr lang="en-US" altLang="ko-KR" sz="1000">
                <a:latin typeface="+mn-ea"/>
              </a:rPr>
              <a:t>)</a:t>
            </a: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다양한 조건에 대해 수행된 수치해석 결과에 피팅되는</a:t>
            </a:r>
            <a:br>
              <a:rPr lang="en-US" altLang="ko-KR" sz="1000">
                <a:latin typeface="+mn-ea"/>
              </a:rPr>
            </a:br>
            <a:r>
              <a:rPr lang="ko-KR" altLang="en-US" sz="1000">
                <a:latin typeface="+mn-ea"/>
              </a:rPr>
              <a:t>회기식 파라미터 </a:t>
            </a:r>
            <a:r>
              <a:rPr lang="en-US" altLang="ko-KR" sz="1000">
                <a:latin typeface="+mn-ea"/>
              </a:rPr>
              <a:t>c1, c2, c3, c4, c5</a:t>
            </a:r>
            <a:r>
              <a:rPr lang="ko-KR" altLang="en-US" sz="1000">
                <a:latin typeface="+mn-ea"/>
              </a:rPr>
              <a:t>를 결정해야 함</a:t>
            </a:r>
            <a:endParaRPr lang="en-US" altLang="ko-KR" sz="1000"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u="sng">
                <a:latin typeface="+mn-ea"/>
              </a:rPr>
              <a:t>L_10 </a:t>
            </a:r>
            <a:r>
              <a:rPr lang="ko-KR" altLang="en-US" sz="1000" u="sng">
                <a:latin typeface="+mn-ea"/>
              </a:rPr>
              <a:t>결정 방법</a:t>
            </a:r>
            <a:endParaRPr lang="en-US" altLang="ko-KR" sz="1000" u="sng">
              <a:latin typeface="+mn-ea"/>
            </a:endParaRP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수명 결정을 위해서는 </a:t>
            </a:r>
            <a:r>
              <a:rPr lang="en-US" altLang="ko-KR" sz="1000">
                <a:latin typeface="+mn-ea"/>
              </a:rPr>
              <a:t>A, B</a:t>
            </a:r>
            <a:r>
              <a:rPr lang="ko-KR" altLang="en-US" sz="1000">
                <a:latin typeface="+mn-ea"/>
              </a:rPr>
              <a:t>가 결정되어야 함</a:t>
            </a:r>
            <a:endParaRPr lang="en-US" altLang="ko-KR" sz="1000">
              <a:latin typeface="+mn-ea"/>
            </a:endParaRP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실제 베어링 수명 시험 결과에 피팅되는 </a:t>
            </a:r>
            <a:r>
              <a:rPr lang="en-US" altLang="ko-KR" sz="1000">
                <a:latin typeface="+mn-ea"/>
              </a:rPr>
              <a:t>A, B</a:t>
            </a:r>
            <a:r>
              <a:rPr lang="ko-KR" altLang="en-US" sz="1000">
                <a:latin typeface="+mn-ea"/>
              </a:rPr>
              <a:t>를 결정해야 함</a:t>
            </a:r>
            <a:endParaRPr lang="en-US" altLang="ko-KR" sz="1000"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u="sng">
                <a:latin typeface="+mn-ea"/>
              </a:rPr>
              <a:t>생각</a:t>
            </a:r>
            <a:endParaRPr lang="en-US" altLang="ko-KR" sz="1000" u="sng">
              <a:latin typeface="+mn-ea"/>
            </a:endParaRP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최종적으로는 </a:t>
            </a:r>
            <a:r>
              <a:rPr lang="en-US" altLang="ko-KR" sz="1000">
                <a:latin typeface="+mn-ea"/>
              </a:rPr>
              <a:t>L_10(</a:t>
            </a:r>
            <a:r>
              <a:rPr lang="ko-KR" altLang="en-US" sz="1000">
                <a:latin typeface="+mn-ea"/>
              </a:rPr>
              <a:t>베어링 수명</a:t>
            </a:r>
            <a:r>
              <a:rPr lang="en-US" altLang="ko-KR" sz="1000">
                <a:latin typeface="+mn-ea"/>
              </a:rPr>
              <a:t>)</a:t>
            </a:r>
            <a:r>
              <a:rPr lang="ko-KR" altLang="en-US" sz="1000">
                <a:latin typeface="+mn-ea"/>
              </a:rPr>
              <a:t>을 계산해야 하나</a:t>
            </a:r>
            <a:br>
              <a:rPr lang="en-US" altLang="ko-KR" sz="1000">
                <a:latin typeface="+mn-ea"/>
              </a:rPr>
            </a:br>
            <a:r>
              <a:rPr lang="ko-KR" altLang="en-US" sz="1000">
                <a:latin typeface="+mn-ea"/>
              </a:rPr>
              <a:t>과제에서는 전동체 시험까지 수행할 수 있음</a:t>
            </a:r>
            <a:endParaRPr lang="en-US" altLang="ko-KR" sz="1000">
              <a:latin typeface="+mn-ea"/>
            </a:endParaRP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rgbClr val="0000FF"/>
                </a:solidFill>
                <a:latin typeface="+mn-ea"/>
              </a:rPr>
              <a:t>전동체 단위로 이론 해석 및 수명 시험 피팅 방법 정리 필요</a:t>
            </a:r>
            <a:endParaRPr lang="en-US" altLang="ko-KR" sz="100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7F308AB-8D74-44DD-B349-6C66A4343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725" y="2040720"/>
            <a:ext cx="3245684" cy="44876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58B21F2-B36A-4B00-92A6-231D4691A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725" y="2695913"/>
            <a:ext cx="3877216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070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69A944F-306C-4A02-AA78-D755C7CF1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13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45AED36-B16B-4704-9B7A-0E34291BB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#3 </a:t>
            </a:r>
            <a:r>
              <a:rPr lang="ko-KR" altLang="en-US"/>
              <a:t>표면하</a:t>
            </a:r>
            <a:r>
              <a:rPr lang="ko-KR" altLang="en-US">
                <a:sym typeface="Wingdings" panose="05000000000000000000" pitchFamily="2" charset="2"/>
              </a:rPr>
              <a:t>표면피로수명 예측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D78A093-67C9-4677-A2EB-8A22CA0CAA39}"/>
              </a:ext>
            </a:extLst>
          </p:cNvPr>
          <p:cNvSpPr/>
          <p:nvPr/>
        </p:nvSpPr>
        <p:spPr>
          <a:xfrm>
            <a:off x="3136900" y="3323979"/>
            <a:ext cx="501650" cy="220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97047D7B-139C-407E-938B-4722884539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277" y="908720"/>
            <a:ext cx="9501698" cy="379549"/>
          </a:xfrm>
        </p:spPr>
        <p:txBody>
          <a:bodyPr/>
          <a:lstStyle/>
          <a:p>
            <a:r>
              <a: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표면하 피로수명 파라미터 </a:t>
            </a:r>
            <a:r>
              <a:rPr lang="en-US" altLang="ko-KR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(ISO 1281-1)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3D14447-2782-4996-8601-756C7FC844B8}"/>
                  </a:ext>
                </a:extLst>
              </p:cNvPr>
              <p:cNvSpPr/>
              <p:nvPr/>
            </p:nvSpPr>
            <p:spPr>
              <a:xfrm>
                <a:off x="204278" y="1435412"/>
                <a:ext cx="5748437" cy="307359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000" b="1">
                    <a:latin typeface="+mn-ea"/>
                  </a:rPr>
                  <a:t>딥리서치 내용 정리</a:t>
                </a:r>
                <a:endParaRPr lang="en-US" altLang="ko-KR" sz="1000" b="1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000" b="1">
                    <a:latin typeface="+mn-ea"/>
                  </a:rPr>
                  <a:t>3.2 </a:t>
                </a:r>
                <a:r>
                  <a:rPr lang="ko-KR" altLang="en-US" sz="1000" b="1">
                    <a:latin typeface="+mn-ea"/>
                  </a:rPr>
                  <a:t>미지 상</a:t>
                </a:r>
                <a:endParaRPr lang="en-US" altLang="ko-KR" sz="1000" b="1">
                  <a:latin typeface="+mn-ea"/>
                </a:endParaRPr>
              </a:p>
              <a:p>
                <a:pPr marL="360000" lvl="1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ko-KR" sz="1000">
                    <a:latin typeface="+mn-ea"/>
                  </a:rPr>
                  <a:t> (Fatigue limit stress)</a:t>
                </a: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>
                    <a:latin typeface="+mn-ea"/>
                  </a:rPr>
                  <a:t>재료 의존</a:t>
                </a:r>
                <a:r>
                  <a:rPr lang="en-US" altLang="ko-KR" sz="1000">
                    <a:latin typeface="+mn-ea"/>
                  </a:rPr>
                  <a:t>: </a:t>
                </a:r>
                <a:r>
                  <a:rPr lang="ko-KR" altLang="en-US" sz="1000">
                    <a:latin typeface="+mn-ea"/>
                  </a:rPr>
                  <a:t>베어링강의 경도</a:t>
                </a:r>
                <a:r>
                  <a:rPr lang="en-US" altLang="ko-KR" sz="1000">
                    <a:latin typeface="+mn-ea"/>
                  </a:rPr>
                  <a:t>, </a:t>
                </a:r>
                <a:r>
                  <a:rPr lang="ko-KR" altLang="en-US" sz="1000">
                    <a:latin typeface="+mn-ea"/>
                  </a:rPr>
                  <a:t>미세구조</a:t>
                </a:r>
                <a:r>
                  <a:rPr lang="en-US" altLang="ko-KR" sz="1000">
                    <a:latin typeface="+mn-ea"/>
                  </a:rPr>
                  <a:t>, </a:t>
                </a:r>
                <a:r>
                  <a:rPr lang="ko-KR" altLang="en-US" sz="1000">
                    <a:latin typeface="+mn-ea"/>
                  </a:rPr>
                  <a:t>잔류응력 상태에 따라 변화</a:t>
                </a:r>
                <a:r>
                  <a:rPr lang="en-US" altLang="ko-KR" sz="1000">
                    <a:latin typeface="+mn-ea"/>
                  </a:rPr>
                  <a:t>. AISI 52100 </a:t>
                </a:r>
                <a:br>
                  <a:rPr lang="en-US" altLang="ko-KR" sz="1000">
                    <a:latin typeface="+mn-ea"/>
                  </a:rPr>
                </a:br>
                <a:r>
                  <a:rPr lang="ko-KR" altLang="en-US" sz="1000">
                    <a:latin typeface="+mn-ea"/>
                  </a:rPr>
                  <a:t>기준 값을 레퍼런스로 활용 가능</a:t>
                </a:r>
                <a:endParaRPr lang="en-US" altLang="ko-KR" sz="1000"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000">
                    <a:latin typeface="+mn-ea"/>
                  </a:rPr>
                  <a:t>Hertz</a:t>
                </a:r>
                <a:r>
                  <a:rPr lang="ko-KR" altLang="en-US" sz="1000">
                    <a:latin typeface="+mn-ea"/>
                  </a:rPr>
                  <a:t> 압력 기준</a:t>
                </a:r>
                <a:r>
                  <a:rPr lang="en-US" altLang="ko-KR" sz="1000">
                    <a:latin typeface="+mn-ea"/>
                  </a:rPr>
                  <a:t>: 1.4~1.5 GPa</a:t>
                </a: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000">
                    <a:latin typeface="+mn-ea"/>
                  </a:rPr>
                  <a:t>Von mises </a:t>
                </a:r>
                <a:r>
                  <a:rPr lang="ko-KR" altLang="en-US" sz="1000">
                    <a:latin typeface="+mn-ea"/>
                  </a:rPr>
                  <a:t>기준</a:t>
                </a:r>
                <a:r>
                  <a:rPr lang="en-US" altLang="ko-KR" sz="1000">
                    <a:latin typeface="+mn-ea"/>
                  </a:rPr>
                  <a:t>: 0.9 GPa (</a:t>
                </a:r>
                <a:r>
                  <a:rPr lang="ko-KR" altLang="en-US" sz="1000">
                    <a:latin typeface="+mn-ea"/>
                  </a:rPr>
                  <a:t>표준 피로 시험 결과 </a:t>
                </a:r>
                <a:r>
                  <a:rPr lang="en-US" altLang="ko-KR" sz="1000">
                    <a:latin typeface="+mn-ea"/>
                  </a:rPr>
                  <a:t>/ RCF </a:t>
                </a:r>
                <a:r>
                  <a:rPr lang="ko-KR" altLang="en-US" sz="1000">
                    <a:latin typeface="+mn-ea"/>
                  </a:rPr>
                  <a:t>다축 응력 상태에 직접 적용 한계</a:t>
                </a:r>
                <a:r>
                  <a:rPr lang="en-US" altLang="ko-KR" sz="1000">
                    <a:latin typeface="+mn-ea"/>
                  </a:rPr>
                  <a:t>)</a:t>
                </a: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>
                    <a:latin typeface="+mn-ea"/>
                  </a:rPr>
                  <a:t>온도 의존</a:t>
                </a:r>
                <a:r>
                  <a:rPr lang="en-US" altLang="ko-KR" sz="1000">
                    <a:latin typeface="+mn-ea"/>
                  </a:rPr>
                  <a:t>: </a:t>
                </a:r>
                <a:r>
                  <a:rPr lang="ko-KR" altLang="en-US" sz="1000">
                    <a:latin typeface="+mn-ea"/>
                  </a:rPr>
                  <a:t>고온에서 감소하는 경향</a:t>
                </a:r>
                <a:endParaRPr lang="en-US" altLang="ko-KR" sz="1000">
                  <a:latin typeface="+mn-ea"/>
                </a:endParaRPr>
              </a:p>
              <a:p>
                <a:pPr marL="360000" lvl="1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000">
                    <a:latin typeface="+mn-ea"/>
                  </a:rPr>
                  <a:t>c (Exponent in life integral)</a:t>
                </a: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000">
                    <a:latin typeface="+mn-ea"/>
                  </a:rPr>
                  <a:t>ISO</a:t>
                </a:r>
                <a:r>
                  <a:rPr lang="ko-KR" altLang="en-US" sz="1000">
                    <a:latin typeface="+mn-ea"/>
                  </a:rPr>
                  <a:t> </a:t>
                </a:r>
                <a:r>
                  <a:rPr lang="en-US" altLang="ko-KR" sz="1000">
                    <a:latin typeface="+mn-ea"/>
                  </a:rPr>
                  <a:t>1281-1</a:t>
                </a:r>
                <a:r>
                  <a:rPr lang="ko-KR" altLang="en-US" sz="1000">
                    <a:latin typeface="+mn-ea"/>
                  </a:rPr>
                  <a:t>에 </a:t>
                </a:r>
                <a:r>
                  <a:rPr lang="en-US" altLang="ko-KR" sz="1000">
                    <a:latin typeface="+mn-ea"/>
                  </a:rPr>
                  <a:t>31/3</a:t>
                </a:r>
                <a:r>
                  <a:rPr lang="ko-KR" altLang="en-US" sz="1000">
                    <a:latin typeface="+mn-ea"/>
                  </a:rPr>
                  <a:t>으로 정의</a:t>
                </a:r>
                <a:endParaRPr lang="en-US" altLang="ko-KR" sz="1000">
                  <a:latin typeface="+mn-ea"/>
                </a:endParaRPr>
              </a:p>
              <a:p>
                <a:pPr marL="360000" lvl="1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000">
                    <a:latin typeface="+mn-ea"/>
                  </a:rPr>
                  <a:t>e</a:t>
                </a:r>
                <a:r>
                  <a:rPr lang="ko-KR" altLang="en-US" sz="1000">
                    <a:latin typeface="+mn-ea"/>
                  </a:rPr>
                  <a:t> </a:t>
                </a:r>
                <a:r>
                  <a:rPr lang="en-US" altLang="ko-KR" sz="1000">
                    <a:latin typeface="+mn-ea"/>
                  </a:rPr>
                  <a:t>(Weibull slope)</a:t>
                </a:r>
              </a:p>
              <a:p>
                <a:pPr marL="360000" lvl="1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000">
                    <a:latin typeface="+mn-ea"/>
                  </a:rPr>
                  <a:t>z</a:t>
                </a:r>
                <a:r>
                  <a:rPr lang="ko-KR" altLang="en-US" sz="1000">
                    <a:latin typeface="+mn-ea"/>
                  </a:rPr>
                  <a:t> </a:t>
                </a:r>
                <a:r>
                  <a:rPr lang="en-US" altLang="ko-KR" sz="1000">
                    <a:latin typeface="+mn-ea"/>
                  </a:rPr>
                  <a:t>(Depth of the max. orthogonal subsurface shear stress)</a:t>
                </a:r>
              </a:p>
              <a:p>
                <a:pPr marL="360000" lvl="1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000">
                    <a:latin typeface="+mn-ea"/>
                  </a:rPr>
                  <a:t>h (Exponent determined experimentally)</a:t>
                </a:r>
              </a:p>
            </p:txBody>
          </p:sp>
        </mc:Choice>
        <mc:Fallback xmlns="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3D14447-2782-4996-8601-756C7FC844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78" y="1435412"/>
                <a:ext cx="5748437" cy="30735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그룹 10">
            <a:extLst>
              <a:ext uri="{FF2B5EF4-FFF2-40B4-BE49-F238E27FC236}">
                <a16:creationId xmlns:a16="http://schemas.microsoft.com/office/drawing/2014/main" id="{2442AD31-1957-497B-B89F-6140237C6676}"/>
              </a:ext>
            </a:extLst>
          </p:cNvPr>
          <p:cNvGrpSpPr/>
          <p:nvPr/>
        </p:nvGrpSpPr>
        <p:grpSpPr>
          <a:xfrm>
            <a:off x="6270379" y="1435412"/>
            <a:ext cx="3600277" cy="2693235"/>
            <a:chOff x="5991703" y="3787125"/>
            <a:chExt cx="3886080" cy="283785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7895216-B3F1-4060-9F5A-E23100792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91703" y="3787125"/>
              <a:ext cx="3886080" cy="231900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75B7E21-1298-4785-BA2F-65FFB47A17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1703" y="4019025"/>
              <a:ext cx="657317" cy="924054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C8698A2-C6CE-49F9-B28E-DCACDF2239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95761" y="4992254"/>
              <a:ext cx="3781652" cy="208968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2EE6A47-5CCA-42BB-AD6A-64B79E543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99704" y="5322197"/>
              <a:ext cx="387732" cy="1302780"/>
            </a:xfrm>
            <a:prstGeom prst="rect">
              <a:avLst/>
            </a:prstGeom>
          </p:spPr>
        </p:pic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D5CD458-3964-4A9B-BB55-0BF7FB346556}"/>
              </a:ext>
            </a:extLst>
          </p:cNvPr>
          <p:cNvSpPr/>
          <p:nvPr/>
        </p:nvSpPr>
        <p:spPr>
          <a:xfrm>
            <a:off x="7478048" y="1098494"/>
            <a:ext cx="11849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>
                <a:latin typeface="+mn-ea"/>
              </a:rPr>
              <a:t>&lt;ISO 1281-1&gt;</a:t>
            </a:r>
            <a:endParaRPr lang="ko-KR" altLang="en-US" sz="120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193838D-23E8-4D10-8772-B3A9230982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666" y="6178385"/>
            <a:ext cx="5748437" cy="43659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4782F3E-9F86-4B39-A322-E84C540565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1312" y="3053188"/>
            <a:ext cx="1609950" cy="91452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A0DE6E-D4BF-420C-84FE-AA287E841FB9}"/>
              </a:ext>
            </a:extLst>
          </p:cNvPr>
          <p:cNvGrpSpPr/>
          <p:nvPr/>
        </p:nvGrpSpPr>
        <p:grpSpPr>
          <a:xfrm>
            <a:off x="6138276" y="4409120"/>
            <a:ext cx="3246071" cy="1316380"/>
            <a:chOff x="4659257" y="4343946"/>
            <a:chExt cx="4636329" cy="1880172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A6079994-7D18-4684-9E53-E9D39AA59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59257" y="4343946"/>
              <a:ext cx="3330004" cy="56588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0A79BC43-A01D-4AA7-BB05-0207C7BC6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59257" y="4941506"/>
              <a:ext cx="4636329" cy="128261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47207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69A944F-306C-4A02-AA78-D755C7CF1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14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45AED36-B16B-4704-9B7A-0E34291BB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#3 </a:t>
            </a:r>
            <a:r>
              <a:rPr lang="ko-KR" altLang="en-US"/>
              <a:t>표면하</a:t>
            </a:r>
            <a:r>
              <a:rPr lang="ko-KR" altLang="en-US">
                <a:sym typeface="Wingdings" panose="05000000000000000000" pitchFamily="2" charset="2"/>
              </a:rPr>
              <a:t>표면피로수명 예측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D78A093-67C9-4677-A2EB-8A22CA0CAA39}"/>
              </a:ext>
            </a:extLst>
          </p:cNvPr>
          <p:cNvSpPr/>
          <p:nvPr/>
        </p:nvSpPr>
        <p:spPr>
          <a:xfrm>
            <a:off x="3136900" y="3323979"/>
            <a:ext cx="501650" cy="220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97047D7B-139C-407E-938B-4722884539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277" y="908720"/>
            <a:ext cx="9501698" cy="379549"/>
          </a:xfrm>
        </p:spPr>
        <p:txBody>
          <a:bodyPr/>
          <a:lstStyle/>
          <a:p>
            <a:r>
              <a: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표면하 피로수명 파라미터 </a:t>
            </a:r>
            <a:r>
              <a:rPr lang="en-US" altLang="ko-KR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(ISO 1281-1)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3D14447-2782-4996-8601-756C7FC844B8}"/>
                  </a:ext>
                </a:extLst>
              </p:cNvPr>
              <p:cNvSpPr/>
              <p:nvPr/>
            </p:nvSpPr>
            <p:spPr>
              <a:xfrm>
                <a:off x="204278" y="1435412"/>
                <a:ext cx="5748437" cy="145777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000" b="1">
                    <a:latin typeface="+mn-ea"/>
                  </a:rPr>
                  <a:t>딥리서치 내용 정리</a:t>
                </a:r>
                <a:endParaRPr lang="en-US" altLang="ko-KR" sz="1000" b="1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000" b="1">
                    <a:latin typeface="+mn-ea"/>
                  </a:rPr>
                  <a:t>3.2 </a:t>
                </a:r>
                <a:r>
                  <a:rPr lang="ko-KR" altLang="en-US" sz="1000" b="1">
                    <a:latin typeface="+mn-ea"/>
                  </a:rPr>
                  <a:t>미지 상</a:t>
                </a:r>
                <a:endParaRPr lang="en-US" altLang="ko-KR" sz="1000" b="1">
                  <a:latin typeface="+mn-ea"/>
                </a:endParaRPr>
              </a:p>
              <a:p>
                <a:pPr marL="360000" lvl="1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ko-KR" sz="1000">
                    <a:latin typeface="+mn-ea"/>
                  </a:rPr>
                  <a:t> (Fatigue limit stress)</a:t>
                </a: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>
                    <a:latin typeface="+mn-ea"/>
                  </a:rPr>
                  <a:t>재료 의존</a:t>
                </a:r>
                <a:r>
                  <a:rPr lang="en-US" altLang="ko-KR" sz="1000">
                    <a:latin typeface="+mn-ea"/>
                  </a:rPr>
                  <a:t>: </a:t>
                </a:r>
                <a:r>
                  <a:rPr lang="ko-KR" altLang="en-US" sz="1000">
                    <a:latin typeface="+mn-ea"/>
                  </a:rPr>
                  <a:t>베어링강의 경도</a:t>
                </a:r>
                <a:r>
                  <a:rPr lang="en-US" altLang="ko-KR" sz="1000">
                    <a:latin typeface="+mn-ea"/>
                  </a:rPr>
                  <a:t>, </a:t>
                </a:r>
                <a:r>
                  <a:rPr lang="ko-KR" altLang="en-US" sz="1000">
                    <a:latin typeface="+mn-ea"/>
                  </a:rPr>
                  <a:t>미세구조</a:t>
                </a:r>
                <a:r>
                  <a:rPr lang="en-US" altLang="ko-KR" sz="1000">
                    <a:latin typeface="+mn-ea"/>
                  </a:rPr>
                  <a:t>, </a:t>
                </a:r>
                <a:r>
                  <a:rPr lang="ko-KR" altLang="en-US" sz="1000">
                    <a:latin typeface="+mn-ea"/>
                  </a:rPr>
                  <a:t>잔류응력 상태에 따라 변화</a:t>
                </a:r>
                <a:r>
                  <a:rPr lang="en-US" altLang="ko-KR" sz="1000">
                    <a:latin typeface="+mn-ea"/>
                  </a:rPr>
                  <a:t>. AISI 52100 </a:t>
                </a:r>
                <a:br>
                  <a:rPr lang="en-US" altLang="ko-KR" sz="1000">
                    <a:latin typeface="+mn-ea"/>
                  </a:rPr>
                </a:br>
                <a:r>
                  <a:rPr lang="ko-KR" altLang="en-US" sz="1000">
                    <a:latin typeface="+mn-ea"/>
                  </a:rPr>
                  <a:t>기준 값을 레퍼런스로 활용 가능</a:t>
                </a:r>
                <a:endParaRPr lang="en-US" altLang="ko-KR" sz="1000"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000">
                    <a:latin typeface="+mn-ea"/>
                  </a:rPr>
                  <a:t>Hertz</a:t>
                </a:r>
                <a:r>
                  <a:rPr lang="ko-KR" altLang="en-US" sz="1000">
                    <a:latin typeface="+mn-ea"/>
                  </a:rPr>
                  <a:t> 압력 기준</a:t>
                </a:r>
                <a:r>
                  <a:rPr lang="en-US" altLang="ko-KR" sz="1000">
                    <a:latin typeface="+mn-ea"/>
                  </a:rPr>
                  <a:t>: 1.4~1.5 GPa</a:t>
                </a:r>
              </a:p>
            </p:txBody>
          </p:sp>
        </mc:Choice>
        <mc:Fallback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3D14447-2782-4996-8601-756C7FC844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78" y="1435412"/>
                <a:ext cx="5748437" cy="1457771"/>
              </a:xfrm>
              <a:prstGeom prst="rect">
                <a:avLst/>
              </a:prstGeom>
              <a:blipFill>
                <a:blip r:embed="rId2"/>
                <a:stretch>
                  <a:fillRect b="-41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림 12">
            <a:extLst>
              <a:ext uri="{FF2B5EF4-FFF2-40B4-BE49-F238E27FC236}">
                <a16:creationId xmlns:a16="http://schemas.microsoft.com/office/drawing/2014/main" id="{9193838D-23E8-4D10-8772-B3A923098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6" y="6178385"/>
            <a:ext cx="5748437" cy="43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944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69A944F-306C-4A02-AA78-D755C7CF1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15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45AED36-B16B-4704-9B7A-0E34291BB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#3 </a:t>
            </a:r>
            <a:r>
              <a:rPr lang="ko-KR" altLang="en-US"/>
              <a:t>표면하</a:t>
            </a:r>
            <a:r>
              <a:rPr lang="ko-KR" altLang="en-US">
                <a:sym typeface="Wingdings" panose="05000000000000000000" pitchFamily="2" charset="2"/>
              </a:rPr>
              <a:t>표면피로수명 예측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D78A093-67C9-4677-A2EB-8A22CA0CAA39}"/>
              </a:ext>
            </a:extLst>
          </p:cNvPr>
          <p:cNvSpPr/>
          <p:nvPr/>
        </p:nvSpPr>
        <p:spPr>
          <a:xfrm>
            <a:off x="3136900" y="3323979"/>
            <a:ext cx="501650" cy="220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97047D7B-139C-407E-938B-4722884539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277" y="908720"/>
            <a:ext cx="9501698" cy="379549"/>
          </a:xfrm>
        </p:spPr>
        <p:txBody>
          <a:bodyPr/>
          <a:lstStyle/>
          <a:p>
            <a:r>
              <a:rPr lang="en-US" altLang="ko-KR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Dang Van </a:t>
            </a:r>
            <a:r>
              <a: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anose="02020603050405020304" pitchFamily="18" charset="0"/>
              </a:rPr>
              <a:t>다축 응력 피로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3D14447-2782-4996-8601-756C7FC844B8}"/>
                  </a:ext>
                </a:extLst>
              </p:cNvPr>
              <p:cNvSpPr/>
              <p:nvPr/>
            </p:nvSpPr>
            <p:spPr>
              <a:xfrm>
                <a:off x="204279" y="1435412"/>
                <a:ext cx="4532698" cy="522335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000" b="1">
                    <a:latin typeface="+mn-ea"/>
                  </a:rPr>
                  <a:t>딥리서치 내용 정리</a:t>
                </a:r>
                <a:endParaRPr lang="en-US" altLang="ko-KR" sz="1000" b="1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000" b="1">
                    <a:latin typeface="+mn-ea"/>
                  </a:rPr>
                  <a:t>3.3 Dang</a:t>
                </a:r>
                <a:r>
                  <a:rPr lang="ko-KR" altLang="en-US" sz="1000" b="1">
                    <a:latin typeface="+mn-ea"/>
                  </a:rPr>
                  <a:t> </a:t>
                </a:r>
                <a:r>
                  <a:rPr lang="en-US" altLang="ko-KR" sz="1000" b="1">
                    <a:latin typeface="+mn-ea"/>
                  </a:rPr>
                  <a:t>Van</a:t>
                </a:r>
                <a:r>
                  <a:rPr lang="ko-KR" altLang="en-US" sz="1000" b="1">
                    <a:latin typeface="+mn-ea"/>
                  </a:rPr>
                  <a:t> 다축 응력 상태 피로 기준</a:t>
                </a:r>
                <a:endParaRPr lang="en-US" altLang="ko-KR" sz="1000" b="1">
                  <a:latin typeface="+mn-ea"/>
                </a:endParaRPr>
              </a:p>
              <a:p>
                <a:pPr marL="360000" lvl="1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>
                    <a:latin typeface="+mn-ea"/>
                  </a:rPr>
                  <a:t>특징</a:t>
                </a:r>
                <a:endParaRPr lang="en-US" altLang="ko-KR" sz="1000"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>
                    <a:latin typeface="+mn-ea"/>
                  </a:rPr>
                  <a:t>전단응력</a:t>
                </a:r>
                <a:r>
                  <a:rPr lang="en-US" altLang="ko-KR" sz="1000">
                    <a:latin typeface="+mn-ea"/>
                  </a:rPr>
                  <a:t>, </a:t>
                </a:r>
                <a:r>
                  <a:rPr lang="ko-KR" altLang="en-US" sz="1000">
                    <a:latin typeface="+mn-ea"/>
                  </a:rPr>
                  <a:t>정수압응력 동시 고려</a:t>
                </a:r>
                <a:endParaRPr lang="en-US" altLang="ko-KR" sz="1000"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>
                    <a:latin typeface="+mn-ea"/>
                  </a:rPr>
                  <a:t>재료 상수는 시험으로 결정</a:t>
                </a:r>
                <a:endParaRPr lang="en-US" altLang="ko-KR" sz="1000"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000">
                    <a:latin typeface="+mn-ea"/>
                  </a:rPr>
                  <a:t>10^6 </a:t>
                </a:r>
                <a:r>
                  <a:rPr lang="ko-KR" altLang="en-US" sz="1000">
                    <a:latin typeface="+mn-ea"/>
                  </a:rPr>
                  <a:t>이상의 고주기피로</a:t>
                </a:r>
                <a:r>
                  <a:rPr lang="en-US" altLang="ko-KR" sz="1000">
                    <a:latin typeface="+mn-ea"/>
                  </a:rPr>
                  <a:t>(HCF)</a:t>
                </a:r>
                <a:r>
                  <a:rPr lang="ko-KR" altLang="en-US" sz="1000">
                    <a:latin typeface="+mn-ea"/>
                  </a:rPr>
                  <a:t>에 적용</a:t>
                </a:r>
                <a:endParaRPr lang="en-US" altLang="ko-KR" sz="1000"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>
                    <a:latin typeface="+mn-ea"/>
                  </a:rPr>
                  <a:t>복잡한 다축 응력 상태에 적용</a:t>
                </a:r>
                <a:endParaRPr lang="en-US" altLang="ko-KR" sz="1000"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000">
                    <a:latin typeface="+mn-ea"/>
                  </a:rPr>
                  <a:t>1980 </a:t>
                </a:r>
                <a:r>
                  <a:rPr lang="ko-KR" altLang="en-US" sz="1000">
                    <a:latin typeface="+mn-ea"/>
                  </a:rPr>
                  <a:t>후반 </a:t>
                </a:r>
                <a:r>
                  <a:rPr lang="en-US" altLang="ko-KR" sz="1000">
                    <a:latin typeface="+mn-ea"/>
                  </a:rPr>
                  <a:t>~1990 </a:t>
                </a:r>
                <a:r>
                  <a:rPr lang="ko-KR" altLang="en-US" sz="1000">
                    <a:latin typeface="+mn-ea"/>
                  </a:rPr>
                  <a:t>초반에 제안</a:t>
                </a:r>
                <a:endParaRPr lang="en-US" altLang="ko-KR" sz="1000">
                  <a:latin typeface="+mn-ea"/>
                </a:endParaRPr>
              </a:p>
              <a:p>
                <a:pPr marL="360000" lvl="1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>
                    <a:latin typeface="+mn-ea"/>
                  </a:rPr>
                  <a:t>논쟁</a:t>
                </a:r>
                <a:endParaRPr lang="en-US" altLang="ko-KR" sz="1000"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>
                    <a:latin typeface="+mn-ea"/>
                  </a:rPr>
                  <a:t>잔류응력에 의한 수명 증가에 대해서는 논쟁 존재</a:t>
                </a:r>
                <a:endParaRPr lang="en-US" altLang="ko-KR" sz="1000"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>
                    <a:latin typeface="+mn-ea"/>
                  </a:rPr>
                  <a:t>이외의 조건에서는 성공적으로 적용됨</a:t>
                </a:r>
                <a:endParaRPr lang="en-US" altLang="ko-KR" sz="1000">
                  <a:latin typeface="+mn-ea"/>
                </a:endParaRPr>
              </a:p>
              <a:p>
                <a:pPr marL="360000" lvl="1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>
                    <a:latin typeface="+mn-ea"/>
                  </a:rPr>
                  <a:t>용어</a:t>
                </a:r>
                <a:endParaRPr lang="en-US" altLang="ko-KR" sz="1000"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00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000">
                    <a:latin typeface="+mn-ea"/>
                  </a:rPr>
                  <a:t>: Microscopic shear stress in critical plane n</a:t>
                </a: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ko-KR" sz="1000">
                    <a:latin typeface="+mn-ea"/>
                  </a:rPr>
                  <a:t>: Alternating shear fatigue endurance</a:t>
                </a: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1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000">
                    <a:latin typeface="+mn-ea"/>
                  </a:rPr>
                  <a:t>: Instantaneous hydrostatic pressure</a:t>
                </a: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ko-KR" sz="1000">
                    <a:latin typeface="+mn-ea"/>
                  </a:rPr>
                  <a:t>: Alternating bending fatigue endurance </a:t>
                </a: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000">
                    <a:latin typeface="+mn-ea"/>
                  </a:rPr>
                  <a:t>Von Mises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~</m:t>
                    </m:r>
                    <m:sSub>
                      <m:sSub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ko-KR" sz="1000">
                    <a:latin typeface="+mn-ea"/>
                  </a:rPr>
                  <a:t> </a:t>
                </a:r>
                <a:r>
                  <a:rPr lang="ko-KR" altLang="en-US" sz="1000">
                    <a:latin typeface="+mn-ea"/>
                  </a:rPr>
                  <a:t>→ </a:t>
                </a:r>
                <a14:m>
                  <m:oMath xmlns:m="http://schemas.openxmlformats.org/officeDocument/2006/math"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~0.232</m:t>
                    </m:r>
                  </m:oMath>
                </a14:m>
                <a:endParaRPr lang="en-US" altLang="ko-KR" sz="1000"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000">
                    <a:latin typeface="+mn-ea"/>
                  </a:rPr>
                  <a:t>Alternating bending fatigue endurance depends on the number of cycles used to measure it. (S-N curve</a:t>
                </a:r>
                <a:r>
                  <a:rPr lang="ko-KR" altLang="en-US" sz="1000">
                    <a:latin typeface="+mn-ea"/>
                  </a:rPr>
                  <a:t>로 결정됨</a:t>
                </a:r>
                <a:r>
                  <a:rPr lang="en-US" altLang="ko-KR" sz="1000">
                    <a:latin typeface="+mn-ea"/>
                  </a:rPr>
                  <a:t>)</a:t>
                </a: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>
                    <a:latin typeface="+mn-ea"/>
                  </a:rPr>
                  <a:t>최종적으로 파손</a:t>
                </a:r>
                <a:r>
                  <a:rPr lang="en-US" altLang="ko-KR" sz="1000">
                    <a:latin typeface="+mn-ea"/>
                  </a:rPr>
                  <a:t>(D=1)</a:t>
                </a:r>
                <a:r>
                  <a:rPr lang="ko-KR" altLang="en-US" sz="1000">
                    <a:latin typeface="+mn-ea"/>
                  </a:rPr>
                  <a:t>이 발생하는 </a:t>
                </a:r>
                <a:r>
                  <a:rPr lang="en-US" altLang="ko-KR" sz="1000">
                    <a:latin typeface="+mn-ea"/>
                  </a:rPr>
                  <a:t>N(the number of cycles)</a:t>
                </a:r>
                <a:r>
                  <a:rPr lang="ko-KR" altLang="en-US" sz="1000">
                    <a:latin typeface="+mn-ea"/>
                  </a:rPr>
                  <a:t>을 구하는 것이 목표</a:t>
                </a:r>
                <a:endParaRPr lang="en-US" altLang="ko-KR" sz="1000"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>
                    <a:solidFill>
                      <a:srgbClr val="0000FF"/>
                    </a:solidFill>
                    <a:latin typeface="+mn-ea"/>
                  </a:rPr>
                  <a:t>소재의 </a:t>
                </a:r>
                <a:r>
                  <a:rPr lang="en-US" altLang="ko-KR" sz="1000">
                    <a:solidFill>
                      <a:srgbClr val="0000FF"/>
                    </a:solidFill>
                    <a:latin typeface="+mn-ea"/>
                  </a:rPr>
                  <a:t>S-N </a:t>
                </a:r>
                <a:r>
                  <a:rPr lang="ko-KR" altLang="en-US" sz="1000">
                    <a:solidFill>
                      <a:srgbClr val="0000FF"/>
                    </a:solidFill>
                    <a:latin typeface="+mn-ea"/>
                  </a:rPr>
                  <a:t>커브에서 </a:t>
                </a:r>
                <a:r>
                  <a:rPr lang="en-US" altLang="ko-KR" sz="1000">
                    <a:solidFill>
                      <a:srgbClr val="0000FF"/>
                    </a:solidFill>
                    <a:latin typeface="+mn-ea"/>
                  </a:rPr>
                  <a:t>A, B</a:t>
                </a:r>
                <a:r>
                  <a:rPr lang="ko-KR" altLang="en-US" sz="1000">
                    <a:solidFill>
                      <a:srgbClr val="0000FF"/>
                    </a:solidFill>
                    <a:latin typeface="+mn-ea"/>
                  </a:rPr>
                  <a:t>를 알아야 하는 것으로 보임</a:t>
                </a:r>
                <a:endParaRPr lang="en-US" altLang="ko-KR" sz="1000">
                  <a:latin typeface="+mn-ea"/>
                </a:endParaRPr>
              </a:p>
            </p:txBody>
          </p:sp>
        </mc:Choice>
        <mc:Fallback xmlns="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3D14447-2782-4996-8601-756C7FC844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79" y="1435412"/>
                <a:ext cx="4532698" cy="52233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그림 13">
            <a:extLst>
              <a:ext uri="{FF2B5EF4-FFF2-40B4-BE49-F238E27FC236}">
                <a16:creationId xmlns:a16="http://schemas.microsoft.com/office/drawing/2014/main" id="{9E867DFD-9321-4366-8ECC-E299A805C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342" y="1404585"/>
            <a:ext cx="2147033" cy="69744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160B6A0-C47A-4DF1-B9D1-A9770CFED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342" y="2199372"/>
            <a:ext cx="1408836" cy="69744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E0C9040-1A91-432F-8BD2-C1F806B979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3421" y="3792173"/>
            <a:ext cx="1900272" cy="50982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E309846-9E2A-4D35-8173-56DD6CA102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8749" y="4557711"/>
            <a:ext cx="3063981" cy="70604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F6EABFB-5E0C-48A7-A8C0-3B237822C8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8749" y="3101841"/>
            <a:ext cx="1441429" cy="29951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EE2C9F8-5D0E-4308-B5D5-787967F321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7414" y="5377644"/>
            <a:ext cx="2955316" cy="18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224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50000"/>
          </a:lnSpc>
          <a:defRPr sz="1400" dirty="0" smtClean="0">
            <a:latin typeface="+mj-ea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5" id="{539303EA-A55D-439F-975F-6A16BF5F8069}" vid="{C6E3C10E-D42D-4DE9-979B-5F28A1C0687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2025</Template>
  <TotalTime>16869</TotalTime>
  <Words>1334</Words>
  <Application>Microsoft Office PowerPoint</Application>
  <PresentationFormat>A4 용지(210x297mm)</PresentationFormat>
  <Paragraphs>157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31" baseType="lpstr">
      <vt:lpstr>-apple-system</vt:lpstr>
      <vt:lpstr>KoPubWorld돋움체 Bold</vt:lpstr>
      <vt:lpstr>KoPubWorld돋움체 Light</vt:lpstr>
      <vt:lpstr>KoPubWorld돋움체 Medium</vt:lpstr>
      <vt:lpstr>KoPub돋움체 Bold</vt:lpstr>
      <vt:lpstr>맑은 고딕</vt:lpstr>
      <vt:lpstr>Arial</vt:lpstr>
      <vt:lpstr>Calibri</vt:lpstr>
      <vt:lpstr>Calibri Light</vt:lpstr>
      <vt:lpstr>Cambria Math</vt:lpstr>
      <vt:lpstr>Consolas</vt:lpstr>
      <vt:lpstr>Times New Roman</vt:lpstr>
      <vt:lpstr>Vrinda</vt:lpstr>
      <vt:lpstr>Wingdings</vt:lpstr>
      <vt:lpstr>Office 테마</vt:lpstr>
      <vt:lpstr>#1 하중해석</vt:lpstr>
      <vt:lpstr>#2 EHL 윤활해석</vt:lpstr>
      <vt:lpstr>#2 EHL 윤활해석</vt:lpstr>
      <vt:lpstr>#2 EHL 윤활해석</vt:lpstr>
      <vt:lpstr>#2 EHL 윤활해석</vt:lpstr>
      <vt:lpstr>#2 EHL 윤활해석</vt:lpstr>
      <vt:lpstr>#2 EHL 윤활해석</vt:lpstr>
      <vt:lpstr>#2 EHL 윤활해석</vt:lpstr>
      <vt:lpstr>#2 EHL 윤활해석</vt:lpstr>
      <vt:lpstr>#2 EHL 윤활해석</vt:lpstr>
      <vt:lpstr>#3 표면하표면피로수명 예측</vt:lpstr>
      <vt:lpstr>#3 표면하표면피로수명 예측</vt:lpstr>
      <vt:lpstr>#3 표면하표면피로수명 예측</vt:lpstr>
      <vt:lpstr>#3 표면하표면피로수명 예측</vt:lpstr>
      <vt:lpstr>#3 표면하표면피로수명 예측</vt:lpstr>
      <vt:lpstr>#3 표면하표면피로수명 예측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Agent를 활용한 기어설계 자율화 기술 개발</dc:title>
  <dc:creator>수철 김</dc:creator>
  <cp:lastModifiedBy>KIMM</cp:lastModifiedBy>
  <cp:revision>830</cp:revision>
  <dcterms:created xsi:type="dcterms:W3CDTF">2025-04-15T04:07:16Z</dcterms:created>
  <dcterms:modified xsi:type="dcterms:W3CDTF">2026-07-16T03:52:46Z</dcterms:modified>
</cp:coreProperties>
</file>