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11"/>
  </p:notesMasterIdLst>
  <p:handoutMasterIdLst>
    <p:handoutMasterId r:id="rId12"/>
  </p:handoutMasterIdLst>
  <p:sldIdLst>
    <p:sldId id="387" r:id="rId2"/>
    <p:sldId id="390" r:id="rId3"/>
    <p:sldId id="394" r:id="rId4"/>
    <p:sldId id="399" r:id="rId5"/>
    <p:sldId id="396" r:id="rId6"/>
    <p:sldId id="391" r:id="rId7"/>
    <p:sldId id="397" r:id="rId8"/>
    <p:sldId id="398" r:id="rId9"/>
    <p:sldId id="400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F75B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8369" autoAdjust="0"/>
  </p:normalViewPr>
  <p:slideViewPr>
    <p:cSldViewPr>
      <p:cViewPr>
        <p:scale>
          <a:sx n="75" d="100"/>
          <a:sy n="75" d="100"/>
        </p:scale>
        <p:origin x="1362" y="606"/>
      </p:cViewPr>
      <p:guideLst>
        <p:guide orient="horz" pos="432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5" d="100"/>
          <a:sy n="85" d="100"/>
        </p:scale>
        <p:origin x="380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A512C-801C-4C41-9C94-2A34471BB05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6AD00D-9267-4F61-B173-7A93DD1592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18159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2D42D-7303-4AC9-BD56-FE82C75A44E7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BBA20-2902-469F-999A-33F3CCD7F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59456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0" y="-9470"/>
            <a:ext cx="742950" cy="264638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각 삼각형 4"/>
          <p:cNvSpPr/>
          <p:nvPr userDrawn="1"/>
        </p:nvSpPr>
        <p:spPr>
          <a:xfrm rot="10800000" flipH="1">
            <a:off x="0" y="0"/>
            <a:ext cx="9777536" cy="1268760"/>
          </a:xfrm>
          <a:prstGeom prst="rtTriangl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556792"/>
            <a:ext cx="8420100" cy="1089075"/>
          </a:xfrm>
        </p:spPr>
        <p:txBody>
          <a:bodyPr anchor="b">
            <a:normAutofit/>
          </a:bodyPr>
          <a:lstStyle>
            <a:lvl1pPr algn="ctr">
              <a:defRPr sz="3600" b="0">
                <a:latin typeface="HY헤드라인M" panose="02030600000101010101" pitchFamily="18" charset="-127"/>
                <a:ea typeface="HY헤드라인M" panose="0203060000010101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97352"/>
            <a:ext cx="6816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2060"/>
                </a:solidFill>
                <a:latin typeface="+mn-lt"/>
                <a:cs typeface="Vrinda" panose="020B0502040204020203" pitchFamily="34" charset="0"/>
              </a:rPr>
              <a:t>Copyright</a:t>
            </a:r>
            <a:r>
              <a:rPr lang="en-US" altLang="ko-KR" sz="1000" b="1" baseline="0" dirty="0">
                <a:solidFill>
                  <a:srgbClr val="002060"/>
                </a:solidFill>
                <a:latin typeface="+mn-lt"/>
                <a:cs typeface="Vrinda" panose="020B0502040204020203" pitchFamily="34" charset="0"/>
              </a:rPr>
              <a:t> 2025 KIMM (Korea Institute of Machinery &amp; Materials). All pictures cannot be copied without permission.</a:t>
            </a:r>
            <a:endParaRPr lang="ko-KR" altLang="en-US" sz="1000" b="1" dirty="0">
              <a:solidFill>
                <a:srgbClr val="002060"/>
              </a:solidFill>
              <a:latin typeface="+mn-lt"/>
              <a:cs typeface="Vrinda" panose="020B0502040204020203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360" y="5661248"/>
            <a:ext cx="3296816" cy="625441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848544" y="2657644"/>
            <a:ext cx="8424936" cy="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851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6583256"/>
            <a:ext cx="8913440" cy="28139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각 삼각형 11"/>
          <p:cNvSpPr/>
          <p:nvPr userDrawn="1"/>
        </p:nvSpPr>
        <p:spPr>
          <a:xfrm rot="10800000">
            <a:off x="7401272" y="6367229"/>
            <a:ext cx="1512168" cy="491210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/>
          <p:cNvSpPr/>
          <p:nvPr userDrawn="1"/>
        </p:nvSpPr>
        <p:spPr>
          <a:xfrm>
            <a:off x="0" y="0"/>
            <a:ext cx="9906000" cy="75460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138878" y="6600348"/>
            <a:ext cx="2228850" cy="231900"/>
          </a:xfrm>
          <a:prstGeom prst="rect">
            <a:avLst/>
          </a:prstGeom>
        </p:spPr>
        <p:txBody>
          <a:bodyPr/>
          <a:lstStyle>
            <a:lvl1pPr algn="r">
              <a:defRPr sz="900" i="1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‹#›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077"/>
          <a:stretch/>
        </p:blipFill>
        <p:spPr>
          <a:xfrm>
            <a:off x="9453483" y="6609255"/>
            <a:ext cx="366761" cy="249184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80830" y="6597352"/>
            <a:ext cx="68163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bg1"/>
                </a:solidFill>
                <a:latin typeface="+mn-lt"/>
                <a:cs typeface="Vrinda" panose="020B0502040204020203" pitchFamily="34" charset="0"/>
              </a:rPr>
              <a:t>Copyright</a:t>
            </a:r>
            <a:r>
              <a:rPr lang="en-US" altLang="ko-KR" sz="1000" b="1" baseline="0" dirty="0">
                <a:solidFill>
                  <a:schemeClr val="bg1"/>
                </a:solidFill>
                <a:latin typeface="+mn-lt"/>
                <a:cs typeface="Vrinda" panose="020B0502040204020203" pitchFamily="34" charset="0"/>
              </a:rPr>
              <a:t> 2025. KIMM (Korea Institute of Machinery &amp; Materials). All pictures cannot be copied without permission.</a:t>
            </a:r>
            <a:endParaRPr lang="ko-KR" altLang="en-US" sz="1000" b="1" dirty="0">
              <a:solidFill>
                <a:schemeClr val="bg1"/>
              </a:solidFill>
              <a:latin typeface="+mn-lt"/>
              <a:cs typeface="Vrinda" panose="020B0502040204020203" pitchFamily="34" charset="0"/>
            </a:endParaRPr>
          </a:p>
        </p:txBody>
      </p:sp>
      <p:sp>
        <p:nvSpPr>
          <p:cNvPr id="11" name="직각 삼각형 10"/>
          <p:cNvSpPr/>
          <p:nvPr userDrawn="1"/>
        </p:nvSpPr>
        <p:spPr>
          <a:xfrm rot="10800000">
            <a:off x="4953000" y="0"/>
            <a:ext cx="4953000" cy="1268760"/>
          </a:xfrm>
          <a:prstGeom prst="rtTriangl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32" y="154509"/>
            <a:ext cx="8769424" cy="538187"/>
          </a:xfrm>
        </p:spPr>
        <p:txBody>
          <a:bodyPr anchor="ctr">
            <a:normAutofit/>
          </a:bodyPr>
          <a:lstStyle>
            <a:lvl1pPr>
              <a:defRPr sz="2800" b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347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74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1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TRB </a:t>
            </a:r>
            <a:r>
              <a:rPr lang="ko-KR" altLang="en-US" dirty="0" err="1"/>
              <a:t>설계변수</a:t>
            </a:r>
            <a:r>
              <a:rPr lang="ko-KR" altLang="en-US" dirty="0"/>
              <a:t> 정의</a:t>
            </a: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 rotWithShape="1">
          <a:blip r:embed="rId2"/>
          <a:srcRect t="257" b="-1"/>
          <a:stretch/>
        </p:blipFill>
        <p:spPr>
          <a:xfrm>
            <a:off x="1746584" y="1361052"/>
            <a:ext cx="1241977" cy="424468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763251" y="3483392"/>
            <a:ext cx="122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 rot="5400000">
            <a:off x="-219593" y="3460177"/>
            <a:ext cx="3968216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/>
        </p:nvCxnSpPr>
        <p:spPr>
          <a:xfrm rot="5400000">
            <a:off x="1002052" y="3540900"/>
            <a:ext cx="3968216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1854720" y="2690953"/>
            <a:ext cx="11340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1940861" y="2690953"/>
            <a:ext cx="91082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>
                <a:latin typeface="+mj-ea"/>
                <a:cs typeface="Times New Roman" panose="02020603050405020304" pitchFamily="18" charset="0"/>
              </a:rPr>
              <a:t>Inner ring width (B)</a:t>
            </a:r>
            <a:endParaRPr lang="ko-KR" altLang="en-US" sz="600" dirty="0"/>
          </a:p>
        </p:txBody>
      </p:sp>
      <p:cxnSp>
        <p:nvCxnSpPr>
          <p:cNvPr id="51" name="직선 연결선 50"/>
          <p:cNvCxnSpPr/>
          <p:nvPr/>
        </p:nvCxnSpPr>
        <p:spPr>
          <a:xfrm>
            <a:off x="1753605" y="1269199"/>
            <a:ext cx="95400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1726329" y="1084533"/>
            <a:ext cx="92845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>
                <a:latin typeface="+mj-ea"/>
                <a:cs typeface="Times New Roman" panose="02020603050405020304" pitchFamily="18" charset="0"/>
              </a:rPr>
              <a:t>Outer ring width (C)</a:t>
            </a:r>
            <a:endParaRPr lang="ko-KR" altLang="en-US" sz="600" dirty="0"/>
          </a:p>
        </p:txBody>
      </p:sp>
      <p:cxnSp>
        <p:nvCxnSpPr>
          <p:cNvPr id="53" name="직선 연결선 52"/>
          <p:cNvCxnSpPr/>
          <p:nvPr/>
        </p:nvCxnSpPr>
        <p:spPr>
          <a:xfrm>
            <a:off x="1753605" y="992200"/>
            <a:ext cx="1233980" cy="0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1905266" y="807534"/>
            <a:ext cx="939681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>
                <a:latin typeface="+mj-ea"/>
                <a:cs typeface="Times New Roman" panose="02020603050405020304" pitchFamily="18" charset="0"/>
              </a:rPr>
              <a:t>Assembled width (T)</a:t>
            </a:r>
            <a:endParaRPr lang="ko-KR" altLang="en-US" sz="600" dirty="0"/>
          </a:p>
        </p:txBody>
      </p:sp>
      <p:cxnSp>
        <p:nvCxnSpPr>
          <p:cNvPr id="59" name="직선 연결선 58"/>
          <p:cNvCxnSpPr/>
          <p:nvPr/>
        </p:nvCxnSpPr>
        <p:spPr>
          <a:xfrm flipH="1">
            <a:off x="1115610" y="1332131"/>
            <a:ext cx="2037170" cy="74146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 flipH="1">
            <a:off x="1208152" y="2145013"/>
            <a:ext cx="2106233" cy="29601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 flipH="1">
            <a:off x="1177180" y="1746221"/>
            <a:ext cx="2073409" cy="51695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2275900" y="1965807"/>
            <a:ext cx="36000" cy="36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연결선 63"/>
          <p:cNvCxnSpPr/>
          <p:nvPr/>
        </p:nvCxnSpPr>
        <p:spPr>
          <a:xfrm flipH="1" flipV="1">
            <a:off x="2212605" y="1667232"/>
            <a:ext cx="156465" cy="601200"/>
          </a:xfrm>
          <a:prstGeom prst="line">
            <a:avLst/>
          </a:prstGeom>
          <a:ln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 flipH="1" flipV="1">
            <a:off x="2219593" y="1678166"/>
            <a:ext cx="658089" cy="18080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6" name="그룹 75"/>
          <p:cNvGrpSpPr/>
          <p:nvPr/>
        </p:nvGrpSpPr>
        <p:grpSpPr>
          <a:xfrm>
            <a:off x="2085588" y="1995203"/>
            <a:ext cx="30971" cy="72772"/>
            <a:chOff x="5046232" y="1971391"/>
            <a:chExt cx="30971" cy="72772"/>
          </a:xfrm>
        </p:grpSpPr>
        <p:cxnSp>
          <p:nvCxnSpPr>
            <p:cNvPr id="67" name="직선 연결선 66"/>
            <p:cNvCxnSpPr/>
            <p:nvPr/>
          </p:nvCxnSpPr>
          <p:spPr>
            <a:xfrm flipH="1" flipV="1">
              <a:off x="5046232" y="1976632"/>
              <a:ext cx="17576" cy="67531"/>
            </a:xfrm>
            <a:prstGeom prst="line">
              <a:avLst/>
            </a:prstGeom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직선 연결선 74"/>
            <p:cNvCxnSpPr/>
            <p:nvPr/>
          </p:nvCxnSpPr>
          <p:spPr>
            <a:xfrm flipH="1" flipV="1">
              <a:off x="5059627" y="1971391"/>
              <a:ext cx="17576" cy="67531"/>
            </a:xfrm>
            <a:prstGeom prst="line">
              <a:avLst/>
            </a:prstGeom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7" name="그룹 76"/>
          <p:cNvGrpSpPr/>
          <p:nvPr/>
        </p:nvGrpSpPr>
        <p:grpSpPr>
          <a:xfrm>
            <a:off x="2483895" y="1891098"/>
            <a:ext cx="30971" cy="72772"/>
            <a:chOff x="5046232" y="1971391"/>
            <a:chExt cx="30971" cy="72772"/>
          </a:xfrm>
        </p:grpSpPr>
        <p:cxnSp>
          <p:nvCxnSpPr>
            <p:cNvPr id="78" name="직선 연결선 77"/>
            <p:cNvCxnSpPr/>
            <p:nvPr/>
          </p:nvCxnSpPr>
          <p:spPr>
            <a:xfrm flipH="1" flipV="1">
              <a:off x="5046232" y="1976632"/>
              <a:ext cx="17576" cy="67531"/>
            </a:xfrm>
            <a:prstGeom prst="line">
              <a:avLst/>
            </a:prstGeom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직선 연결선 78"/>
            <p:cNvCxnSpPr/>
            <p:nvPr/>
          </p:nvCxnSpPr>
          <p:spPr>
            <a:xfrm flipH="1" flipV="1">
              <a:off x="5059627" y="1971391"/>
              <a:ext cx="17576" cy="67531"/>
            </a:xfrm>
            <a:prstGeom prst="line">
              <a:avLst/>
            </a:prstGeom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 rot="-360000">
            <a:off x="2020231" y="1708893"/>
            <a:ext cx="30971" cy="72772"/>
            <a:chOff x="5046232" y="1971391"/>
            <a:chExt cx="30971" cy="72772"/>
          </a:xfrm>
        </p:grpSpPr>
        <p:cxnSp>
          <p:nvCxnSpPr>
            <p:cNvPr id="81" name="직선 연결선 80"/>
            <p:cNvCxnSpPr/>
            <p:nvPr/>
          </p:nvCxnSpPr>
          <p:spPr>
            <a:xfrm flipH="1" flipV="1">
              <a:off x="5046232" y="1976632"/>
              <a:ext cx="17576" cy="67531"/>
            </a:xfrm>
            <a:prstGeom prst="line">
              <a:avLst/>
            </a:prstGeom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 flipH="1" flipV="1">
              <a:off x="5059627" y="1971391"/>
              <a:ext cx="17576" cy="67531"/>
            </a:xfrm>
            <a:prstGeom prst="line">
              <a:avLst/>
            </a:prstGeom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3" name="그룹 82"/>
          <p:cNvGrpSpPr/>
          <p:nvPr/>
        </p:nvGrpSpPr>
        <p:grpSpPr>
          <a:xfrm rot="-360000">
            <a:off x="2360753" y="1585064"/>
            <a:ext cx="30971" cy="72772"/>
            <a:chOff x="5046232" y="1971391"/>
            <a:chExt cx="30971" cy="72772"/>
          </a:xfrm>
        </p:grpSpPr>
        <p:cxnSp>
          <p:nvCxnSpPr>
            <p:cNvPr id="84" name="직선 연결선 83"/>
            <p:cNvCxnSpPr/>
            <p:nvPr/>
          </p:nvCxnSpPr>
          <p:spPr>
            <a:xfrm flipH="1" flipV="1">
              <a:off x="5046232" y="1976632"/>
              <a:ext cx="17576" cy="67531"/>
            </a:xfrm>
            <a:prstGeom prst="line">
              <a:avLst/>
            </a:prstGeom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직선 연결선 84"/>
            <p:cNvCxnSpPr/>
            <p:nvPr/>
          </p:nvCxnSpPr>
          <p:spPr>
            <a:xfrm flipH="1" flipV="1">
              <a:off x="5059627" y="1971391"/>
              <a:ext cx="17576" cy="67531"/>
            </a:xfrm>
            <a:prstGeom prst="line">
              <a:avLst/>
            </a:prstGeom>
            <a:ln>
              <a:solidFill>
                <a:schemeClr val="tx1"/>
              </a:solidFill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원호 85"/>
          <p:cNvSpPr/>
          <p:nvPr/>
        </p:nvSpPr>
        <p:spPr>
          <a:xfrm rot="18629517">
            <a:off x="2736208" y="3127459"/>
            <a:ext cx="296923" cy="296923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/>
          <p:cNvSpPr/>
          <p:nvPr/>
        </p:nvSpPr>
        <p:spPr>
          <a:xfrm>
            <a:off x="2916022" y="2994840"/>
            <a:ext cx="1015021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>
                <a:latin typeface="+mj-ea"/>
                <a:cs typeface="Times New Roman" panose="02020603050405020304" pitchFamily="18" charset="0"/>
              </a:rPr>
              <a:t>Nominal contact angle</a:t>
            </a:r>
            <a:endParaRPr lang="ko-KR" altLang="en-US" sz="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직사각형 87"/>
              <p:cNvSpPr/>
              <p:nvPr/>
            </p:nvSpPr>
            <p:spPr>
              <a:xfrm>
                <a:off x="2765444" y="2973255"/>
                <a:ext cx="158202" cy="184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600" b="1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𝜶</m:t>
                      </m:r>
                    </m:oMath>
                  </m:oMathPara>
                </a14:m>
                <a:endParaRPr lang="ko-KR" altLang="en-US" sz="600" dirty="0"/>
              </a:p>
            </p:txBody>
          </p:sp>
        </mc:Choice>
        <mc:Fallback xmlns="">
          <p:sp>
            <p:nvSpPr>
              <p:cNvPr id="88" name="직사각형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444" y="2973255"/>
                <a:ext cx="158202" cy="1846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/>
              <p:cNvSpPr/>
              <p:nvPr/>
            </p:nvSpPr>
            <p:spPr>
              <a:xfrm rot="-840000">
                <a:off x="1997908" y="1802247"/>
                <a:ext cx="394725" cy="184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6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𝐃</m:t>
                          </m:r>
                        </m:e>
                        <m:sub>
                          <m:r>
                            <a:rPr lang="en-US" altLang="ko-KR" sz="600" b="1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𝐰𝐞</m:t>
                          </m:r>
                        </m:sub>
                      </m:sSub>
                    </m:oMath>
                  </m:oMathPara>
                </a14:m>
                <a:endParaRPr lang="ko-KR" altLang="en-US" sz="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-840000">
                <a:off x="1997908" y="1802247"/>
                <a:ext cx="394725" cy="18466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직사각형 93"/>
              <p:cNvSpPr/>
              <p:nvPr/>
            </p:nvSpPr>
            <p:spPr>
              <a:xfrm>
                <a:off x="1640632" y="3092046"/>
                <a:ext cx="742511" cy="1929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600" b="1" dirty="0">
                    <a:solidFill>
                      <a:schemeClr val="tx1"/>
                    </a:solidFill>
                    <a:latin typeface="+mj-ea"/>
                    <a:cs typeface="Times New Roman" panose="02020603050405020304" pitchFamily="18" charset="0"/>
                  </a:rPr>
                  <a:t>Pitch dia.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6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6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𝐃</m:t>
                        </m:r>
                      </m:e>
                      <m:sub>
                        <m:r>
                          <a:rPr lang="en-US" altLang="ko-KR" sz="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𝐩𝐰</m:t>
                        </m:r>
                      </m:sub>
                    </m:sSub>
                  </m:oMath>
                </a14:m>
                <a:r>
                  <a:rPr lang="en-US" altLang="ko-KR" sz="600" dirty="0">
                    <a:solidFill>
                      <a:schemeClr val="tx1"/>
                    </a:solidFill>
                  </a:rPr>
                  <a:t>)</a:t>
                </a:r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4" name="직사각형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632" y="3092046"/>
                <a:ext cx="742511" cy="1929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직선 연결선 94"/>
          <p:cNvCxnSpPr/>
          <p:nvPr/>
        </p:nvCxnSpPr>
        <p:spPr>
          <a:xfrm>
            <a:off x="1765049" y="3484800"/>
            <a:ext cx="1112633" cy="0"/>
          </a:xfrm>
          <a:prstGeom prst="line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1799350" y="3513140"/>
            <a:ext cx="10182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>
                <a:latin typeface="+mj-ea"/>
                <a:cs typeface="Times New Roman" panose="02020603050405020304" pitchFamily="18" charset="0"/>
              </a:rPr>
              <a:t>Effective load center</a:t>
            </a:r>
            <a:br>
              <a:rPr lang="en-US" altLang="ko-KR" sz="600" b="1" dirty="0">
                <a:latin typeface="+mj-ea"/>
                <a:cs typeface="Times New Roman" panose="02020603050405020304" pitchFamily="18" charset="0"/>
              </a:rPr>
            </a:br>
            <a:r>
              <a:rPr lang="en-US" altLang="ko-KR" sz="600" b="1" dirty="0">
                <a:latin typeface="+mj-ea"/>
                <a:cs typeface="Times New Roman" panose="02020603050405020304" pitchFamily="18" charset="0"/>
              </a:rPr>
              <a:t>from cup back face (a)</a:t>
            </a:r>
            <a:endParaRPr lang="ko-KR" altLang="en-US" sz="600" dirty="0"/>
          </a:p>
        </p:txBody>
      </p:sp>
      <p:cxnSp>
        <p:nvCxnSpPr>
          <p:cNvPr id="92" name="직선 연결선 91"/>
          <p:cNvCxnSpPr/>
          <p:nvPr/>
        </p:nvCxnSpPr>
        <p:spPr>
          <a:xfrm>
            <a:off x="2290837" y="1999733"/>
            <a:ext cx="0" cy="3013443"/>
          </a:xfrm>
          <a:prstGeom prst="line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1332377" y="2597300"/>
            <a:ext cx="16520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직선 연결선 99"/>
          <p:cNvCxnSpPr/>
          <p:nvPr/>
        </p:nvCxnSpPr>
        <p:spPr>
          <a:xfrm>
            <a:off x="1333049" y="4359203"/>
            <a:ext cx="165204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1548401" y="2592289"/>
            <a:ext cx="0" cy="1766914"/>
          </a:xfrm>
          <a:prstGeom prst="line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980490" y="3357785"/>
            <a:ext cx="639919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>
                <a:latin typeface="+mj-ea"/>
                <a:cs typeface="Times New Roman" panose="02020603050405020304" pitchFamily="18" charset="0"/>
              </a:rPr>
              <a:t>Bore</a:t>
            </a:r>
            <a:r>
              <a:rPr lang="en-US" altLang="ko-KR" sz="600" b="1" dirty="0">
                <a:solidFill>
                  <a:schemeClr val="tx1"/>
                </a:solidFill>
                <a:latin typeface="+mj-ea"/>
                <a:cs typeface="Times New Roman" panose="02020603050405020304" pitchFamily="18" charset="0"/>
              </a:rPr>
              <a:t> dia. (d</a:t>
            </a:r>
            <a:r>
              <a:rPr lang="en-US" altLang="ko-KR" sz="600" dirty="0">
                <a:solidFill>
                  <a:schemeClr val="tx1"/>
                </a:solidFill>
              </a:rPr>
              <a:t>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cxnSp>
        <p:nvCxnSpPr>
          <p:cNvPr id="104" name="직선 연결선 103"/>
          <p:cNvCxnSpPr/>
          <p:nvPr/>
        </p:nvCxnSpPr>
        <p:spPr>
          <a:xfrm>
            <a:off x="684305" y="1363433"/>
            <a:ext cx="20148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직선 연결선 105"/>
          <p:cNvCxnSpPr/>
          <p:nvPr/>
        </p:nvCxnSpPr>
        <p:spPr>
          <a:xfrm>
            <a:off x="685049" y="5594065"/>
            <a:ext cx="201486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직선 연결선 106"/>
          <p:cNvCxnSpPr/>
          <p:nvPr/>
        </p:nvCxnSpPr>
        <p:spPr>
          <a:xfrm>
            <a:off x="900329" y="1361052"/>
            <a:ext cx="0" cy="4233013"/>
          </a:xfrm>
          <a:prstGeom prst="line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직사각형 108"/>
          <p:cNvSpPr/>
          <p:nvPr/>
        </p:nvSpPr>
        <p:spPr>
          <a:xfrm>
            <a:off x="272480" y="3357785"/>
            <a:ext cx="6864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00" b="1" dirty="0">
                <a:latin typeface="+mj-ea"/>
                <a:cs typeface="Times New Roman" panose="02020603050405020304" pitchFamily="18" charset="0"/>
              </a:rPr>
              <a:t>Outer</a:t>
            </a:r>
            <a:r>
              <a:rPr lang="en-US" altLang="ko-KR" sz="600" b="1" dirty="0">
                <a:solidFill>
                  <a:schemeClr val="tx1"/>
                </a:solidFill>
                <a:latin typeface="+mj-ea"/>
                <a:cs typeface="Times New Roman" panose="02020603050405020304" pitchFamily="18" charset="0"/>
              </a:rPr>
              <a:t> dia. (D</a:t>
            </a:r>
            <a:r>
              <a:rPr lang="en-US" altLang="ko-KR" sz="600" dirty="0">
                <a:solidFill>
                  <a:schemeClr val="tx1"/>
                </a:solidFill>
              </a:rPr>
              <a:t>)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0" name="원호 119"/>
          <p:cNvSpPr/>
          <p:nvPr/>
        </p:nvSpPr>
        <p:spPr>
          <a:xfrm rot="2410174">
            <a:off x="790432" y="1972980"/>
            <a:ext cx="588992" cy="518952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직사각형 120"/>
              <p:cNvSpPr/>
              <p:nvPr/>
            </p:nvSpPr>
            <p:spPr>
              <a:xfrm>
                <a:off x="1281919" y="2020160"/>
                <a:ext cx="158202" cy="184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l-GR" altLang="ko-KR" sz="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</m:oMath>
                  </m:oMathPara>
                </a14:m>
                <a:endParaRPr lang="ko-KR" altLang="en-US" sz="600" dirty="0"/>
              </a:p>
            </p:txBody>
          </p:sp>
        </mc:Choice>
        <mc:Fallback xmlns="">
          <p:sp>
            <p:nvSpPr>
              <p:cNvPr id="121" name="직사각형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1919" y="2020160"/>
                <a:ext cx="158202" cy="184666"/>
              </a:xfrm>
              <a:prstGeom prst="rect">
                <a:avLst/>
              </a:prstGeom>
              <a:blipFill>
                <a:blip r:embed="rId6"/>
                <a:stretch>
                  <a:fillRect r="-3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직사각형 121"/>
              <p:cNvSpPr/>
              <p:nvPr/>
            </p:nvSpPr>
            <p:spPr>
              <a:xfrm>
                <a:off x="830017" y="1694436"/>
                <a:ext cx="1018227" cy="18466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600" b="1" dirty="0">
                    <a:latin typeface="+mj-ea"/>
                    <a:cs typeface="Times New Roman" panose="02020603050405020304" pitchFamily="18" charset="0"/>
                  </a:rPr>
                  <a:t>Roller taper angle (</a:t>
                </a:r>
                <a14:m>
                  <m:oMath xmlns:m="http://schemas.openxmlformats.org/officeDocument/2006/math">
                    <m:r>
                      <a:rPr lang="en-US" altLang="ko-KR" sz="6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l-GR" altLang="ko-KR" sz="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 altLang="ko-KR" sz="600" b="1" dirty="0"/>
                  <a:t>)</a:t>
                </a:r>
                <a:endParaRPr lang="ko-KR" altLang="en-US" sz="600" b="1" dirty="0"/>
              </a:p>
            </p:txBody>
          </p:sp>
        </mc:Choice>
        <mc:Fallback xmlns="">
          <p:sp>
            <p:nvSpPr>
              <p:cNvPr id="122" name="직사각형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17" y="1694436"/>
                <a:ext cx="1018227" cy="184666"/>
              </a:xfrm>
              <a:prstGeom prst="rect">
                <a:avLst/>
              </a:prstGeom>
              <a:blipFill>
                <a:blip r:embed="rId7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3" name="직선 연결선 122"/>
          <p:cNvCxnSpPr/>
          <p:nvPr/>
        </p:nvCxnSpPr>
        <p:spPr>
          <a:xfrm>
            <a:off x="1813784" y="1606588"/>
            <a:ext cx="220199" cy="86400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>
            <a:off x="2555413" y="1431622"/>
            <a:ext cx="227882" cy="9139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직선 연결선 130"/>
          <p:cNvCxnSpPr/>
          <p:nvPr/>
        </p:nvCxnSpPr>
        <p:spPr>
          <a:xfrm flipH="1">
            <a:off x="1833800" y="1509065"/>
            <a:ext cx="734521" cy="183136"/>
          </a:xfrm>
          <a:prstGeom prst="line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직사각형 137"/>
              <p:cNvSpPr/>
              <p:nvPr/>
            </p:nvSpPr>
            <p:spPr>
              <a:xfrm rot="-840000">
                <a:off x="1763004" y="1435466"/>
                <a:ext cx="826724" cy="184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600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Roller length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𝐋</m:t>
                        </m:r>
                      </m:e>
                      <m:sub>
                        <m:r>
                          <a:rPr lang="en-US" altLang="ko-KR" sz="600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𝐰</m:t>
                        </m:r>
                      </m:sub>
                    </m:sSub>
                    <m:r>
                      <a:rPr lang="en-US" altLang="ko-KR" sz="6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8" name="직사각형 1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-840000">
                <a:off x="1763004" y="1435466"/>
                <a:ext cx="826724" cy="1846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9" name="표 1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2655472"/>
                  </p:ext>
                </p:extLst>
              </p:nvPr>
            </p:nvGraphicFramePr>
            <p:xfrm>
              <a:off x="3924383" y="1449391"/>
              <a:ext cx="4537414" cy="481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5784">
                      <a:extLst>
                        <a:ext uri="{9D8B030D-6E8A-4147-A177-3AD203B41FA5}">
                          <a16:colId xmlns:a16="http://schemas.microsoft.com/office/drawing/2014/main" val="741293315"/>
                        </a:ext>
                      </a:extLst>
                    </a:gridCol>
                    <a:gridCol w="1865630">
                      <a:extLst>
                        <a:ext uri="{9D8B030D-6E8A-4147-A177-3AD203B41FA5}">
                          <a16:colId xmlns:a16="http://schemas.microsoft.com/office/drawing/2014/main" val="18416305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425477063"/>
                        </a:ext>
                      </a:extLst>
                    </a:gridCol>
                    <a:gridCol w="1008000">
                      <a:extLst>
                        <a:ext uri="{9D8B030D-6E8A-4147-A177-3AD203B41FA5}">
                          <a16:colId xmlns:a16="http://schemas.microsoft.com/office/drawing/2014/main" val="2273309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Component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Geometry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Symbol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Reference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8860746"/>
                      </a:ext>
                    </a:extLst>
                  </a:tr>
                  <a:tr h="252000">
                    <a:tc rowSpan="5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Raceway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Bore diameter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SKF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 Catalogue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0991908"/>
                      </a:ext>
                    </a:extLst>
                  </a:tr>
                  <a:tr h="252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Outer diameter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맑은 고딕" panose="020B0503020000020004" pitchFamily="50" charset="-127"/>
                              <a:cs typeface="+mn-cs"/>
                            </a:rPr>
                            <a:t>SKF Catalogue</a:t>
                          </a:r>
                          <a:endParaRPr kumimoji="0" lang="ko-KR" altLang="en-US" sz="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42709630"/>
                      </a:ext>
                    </a:extLst>
                  </a:tr>
                  <a:tr h="252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Inner ring width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B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맑은 고딕" panose="020B0503020000020004" pitchFamily="50" charset="-127"/>
                              <a:cs typeface="+mn-cs"/>
                            </a:rPr>
                            <a:t>SKF Catalogue</a:t>
                          </a:r>
                          <a:endParaRPr kumimoji="0" lang="ko-KR" altLang="en-US" sz="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7084724"/>
                      </a:ext>
                    </a:extLst>
                  </a:tr>
                  <a:tr h="252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Outer ring width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C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맑은 고딕" panose="020B0503020000020004" pitchFamily="50" charset="-127"/>
                              <a:cs typeface="+mn-cs"/>
                            </a:rPr>
                            <a:t>SKF Catalogue</a:t>
                          </a:r>
                          <a:endParaRPr kumimoji="0" lang="ko-KR" altLang="en-US" sz="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3140288"/>
                      </a:ext>
                    </a:extLst>
                  </a:tr>
                  <a:tr h="252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Assembled width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T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맑은 고딕" panose="020B0503020000020004" pitchFamily="50" charset="-127"/>
                              <a:cs typeface="+mn-cs"/>
                            </a:rPr>
                            <a:t>SKF Catalogue</a:t>
                          </a:r>
                          <a:endParaRPr kumimoji="0" lang="ko-KR" altLang="en-US" sz="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7175194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Roller</a:t>
                          </a:r>
                          <a:br>
                            <a:rPr lang="en-US" altLang="ko-KR" sz="800" b="1" dirty="0"/>
                          </a:br>
                          <a:r>
                            <a:rPr lang="en-US" altLang="ko-KR" sz="800" b="1" dirty="0"/>
                            <a:t>(Shape)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Roller diameter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800" b="1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𝐃</m:t>
                                    </m:r>
                                  </m:e>
                                  <m:sub>
                                    <m:r>
                                      <a:rPr lang="en-US" altLang="ko-KR" sz="8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𝐰𝐞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 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용어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MASTA(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485017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Roller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 length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8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𝐋</m:t>
                                    </m:r>
                                  </m:e>
                                  <m:sub>
                                    <m:r>
                                      <a:rPr lang="en-US" altLang="ko-KR" sz="8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8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MASTA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용어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,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 err="1">
                              <a:solidFill>
                                <a:srgbClr val="FF0000"/>
                              </a:solidFill>
                            </a:rPr>
                            <a:t>Mesys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3D CAD 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측정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043587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Effective 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roller length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8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𝐋</m:t>
                                    </m:r>
                                  </m:e>
                                  <m:sub>
                                    <m:r>
                                      <a:rPr lang="en-US" altLang="ko-KR" sz="8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𝐰𝐞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8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 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정의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 ISO16281(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MASTA(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값 확인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330509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Roller taper angle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  <m:r>
                                  <a:rPr lang="en-US" altLang="ko-KR" sz="800" b="1" i="0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𝛃</m:t>
                                </m:r>
                              </m:oMath>
                            </m:oMathPara>
                          </a14:m>
                          <a:endParaRPr lang="ko-KR" altLang="en-US" sz="800" b="1" i="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 16281</a:t>
                          </a:r>
                          <a:b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ko-KR" altLang="en-US" sz="800" b="1" baseline="0" dirty="0">
                              <a:solidFill>
                                <a:srgbClr val="FF0000"/>
                              </a:solidFill>
                            </a:rPr>
                            <a:t>정의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,</a:t>
                          </a:r>
                          <a:r>
                            <a:rPr lang="ko-KR" altLang="en-US" sz="800" b="1" baseline="0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), </a:t>
                          </a:r>
                          <a:b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MASTA(</a:t>
                          </a:r>
                          <a:r>
                            <a:rPr lang="ko-KR" altLang="en-US" sz="800" b="1" baseline="0" dirty="0">
                              <a:solidFill>
                                <a:srgbClr val="FF0000"/>
                              </a:solidFill>
                            </a:rPr>
                            <a:t>용어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750659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Roller</a:t>
                          </a:r>
                          <a:br>
                            <a:rPr lang="en-US" altLang="ko-KR" sz="800" b="1" dirty="0"/>
                          </a:br>
                          <a:r>
                            <a:rPr lang="en-US" altLang="ko-KR" sz="800" b="1" dirty="0"/>
                            <a:t>(Position)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Pitch diameter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800" b="1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800" b="1" i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𝐃</m:t>
                                    </m:r>
                                  </m:e>
                                  <m:sub>
                                    <m:r>
                                      <a:rPr lang="en-US" altLang="ko-KR" sz="800" b="1" i="0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𝐩𝐰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 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정의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MASTA(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7611283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dirty="0"/>
                            <a:t>Effective load center from cup back face</a:t>
                          </a:r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0" dirty="0"/>
                            <a:t>a</a:t>
                          </a:r>
                          <a:endParaRPr lang="ko-KR" altLang="en-US" sz="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dirty="0"/>
                            <a:t>MASTA(</a:t>
                          </a:r>
                          <a:r>
                            <a:rPr lang="ko-KR" altLang="en-US" sz="800" dirty="0"/>
                            <a:t>용어</a:t>
                          </a:r>
                          <a:r>
                            <a:rPr lang="en-US" altLang="ko-KR" sz="800" dirty="0"/>
                            <a:t>, </a:t>
                          </a:r>
                          <a:r>
                            <a:rPr lang="ko-KR" altLang="en-US" sz="800" dirty="0"/>
                            <a:t>정의</a:t>
                          </a:r>
                          <a:r>
                            <a:rPr lang="en-US" altLang="ko-KR" sz="800" dirty="0"/>
                            <a:t>),</a:t>
                          </a:r>
                          <a:r>
                            <a:rPr lang="en-US" altLang="ko-KR" sz="800" baseline="0" dirty="0"/>
                            <a:t> </a:t>
                          </a:r>
                          <a:br>
                            <a:rPr lang="en-US" altLang="ko-KR" sz="800" baseline="0" dirty="0"/>
                          </a:br>
                          <a:r>
                            <a:rPr lang="en-US" altLang="ko-KR" sz="800" baseline="0" dirty="0"/>
                            <a:t>ISO 16281</a:t>
                          </a:r>
                          <a:br>
                            <a:rPr lang="en-US" altLang="ko-KR" sz="800" baseline="0" dirty="0"/>
                          </a:br>
                          <a:r>
                            <a:rPr lang="en-US" altLang="ko-KR" sz="800" baseline="0" dirty="0"/>
                            <a:t>(</a:t>
                          </a:r>
                          <a:r>
                            <a:rPr lang="ko-KR" altLang="en-US" sz="800" baseline="0" dirty="0"/>
                            <a:t>정의</a:t>
                          </a:r>
                          <a:r>
                            <a:rPr lang="en-US" altLang="ko-KR" sz="800" baseline="0" dirty="0"/>
                            <a:t>, </a:t>
                          </a:r>
                          <a:r>
                            <a:rPr lang="ko-KR" altLang="en-US" sz="800" baseline="0" dirty="0"/>
                            <a:t>그림</a:t>
                          </a:r>
                          <a:r>
                            <a:rPr lang="en-US" altLang="ko-KR" sz="800" baseline="0" dirty="0"/>
                            <a:t>),</a:t>
                          </a:r>
                          <a:br>
                            <a:rPr lang="en-US" altLang="ko-KR" sz="800" baseline="0" dirty="0"/>
                          </a:br>
                          <a:r>
                            <a:rPr lang="en-US" altLang="ko-KR" sz="800" baseline="0" dirty="0"/>
                            <a:t>SKF Catalogue</a:t>
                          </a:r>
                          <a:endParaRPr lang="ko-KR" alt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565087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Nominal contact angle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8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𝜶</m:t>
                                </m:r>
                              </m:oMath>
                            </m:oMathPara>
                          </a14:m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 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정의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 ISO16281(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64722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9" name="표 13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2655472"/>
                  </p:ext>
                </p:extLst>
              </p:nvPr>
            </p:nvGraphicFramePr>
            <p:xfrm>
              <a:off x="3924383" y="1449391"/>
              <a:ext cx="4537414" cy="4816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5784">
                      <a:extLst>
                        <a:ext uri="{9D8B030D-6E8A-4147-A177-3AD203B41FA5}">
                          <a16:colId xmlns:a16="http://schemas.microsoft.com/office/drawing/2014/main" val="741293315"/>
                        </a:ext>
                      </a:extLst>
                    </a:gridCol>
                    <a:gridCol w="1865630">
                      <a:extLst>
                        <a:ext uri="{9D8B030D-6E8A-4147-A177-3AD203B41FA5}">
                          <a16:colId xmlns:a16="http://schemas.microsoft.com/office/drawing/2014/main" val="184163052"/>
                        </a:ext>
                      </a:extLst>
                    </a:gridCol>
                    <a:gridCol w="648000">
                      <a:extLst>
                        <a:ext uri="{9D8B030D-6E8A-4147-A177-3AD203B41FA5}">
                          <a16:colId xmlns:a16="http://schemas.microsoft.com/office/drawing/2014/main" val="2425477063"/>
                        </a:ext>
                      </a:extLst>
                    </a:gridCol>
                    <a:gridCol w="1008000">
                      <a:extLst>
                        <a:ext uri="{9D8B030D-6E8A-4147-A177-3AD203B41FA5}">
                          <a16:colId xmlns:a16="http://schemas.microsoft.com/office/drawing/2014/main" val="2273309826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Component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Geometry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Symbol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Reference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8860746"/>
                      </a:ext>
                    </a:extLst>
                  </a:tr>
                  <a:tr h="252000">
                    <a:tc rowSpan="5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Raceway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Bore diameter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SKF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 Catalogue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80991908"/>
                      </a:ext>
                    </a:extLst>
                  </a:tr>
                  <a:tr h="252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Outer diameter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D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맑은 고딕" panose="020B0503020000020004" pitchFamily="50" charset="-127"/>
                              <a:cs typeface="+mn-cs"/>
                            </a:rPr>
                            <a:t>SKF Catalogue</a:t>
                          </a:r>
                          <a:endParaRPr kumimoji="0" lang="ko-KR" altLang="en-US" sz="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942709630"/>
                      </a:ext>
                    </a:extLst>
                  </a:tr>
                  <a:tr h="252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Inner ring width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B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맑은 고딕" panose="020B0503020000020004" pitchFamily="50" charset="-127"/>
                              <a:cs typeface="+mn-cs"/>
                            </a:rPr>
                            <a:t>SKF Catalogue</a:t>
                          </a:r>
                          <a:endParaRPr kumimoji="0" lang="ko-KR" altLang="en-US" sz="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97084724"/>
                      </a:ext>
                    </a:extLst>
                  </a:tr>
                  <a:tr h="252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Outer ring width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C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맑은 고딕" panose="020B0503020000020004" pitchFamily="50" charset="-127"/>
                              <a:cs typeface="+mn-cs"/>
                            </a:rPr>
                            <a:t>SKF Catalogue</a:t>
                          </a:r>
                          <a:endParaRPr kumimoji="0" lang="ko-KR" altLang="en-US" sz="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63140288"/>
                      </a:ext>
                    </a:extLst>
                  </a:tr>
                  <a:tr h="2520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Assembled width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0000FF"/>
                              </a:solidFill>
                            </a:rPr>
                            <a:t>T</a:t>
                          </a:r>
                          <a:endParaRPr lang="ko-KR" altLang="en-US" sz="800" b="1" dirty="0">
                            <a:solidFill>
                              <a:srgbClr val="0000FF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US" altLang="ko-KR" sz="800" b="1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FF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맑은 고딕" panose="020B0503020000020004" pitchFamily="50" charset="-127"/>
                              <a:cs typeface="+mn-cs"/>
                            </a:rPr>
                            <a:t>SKF Catalogue</a:t>
                          </a:r>
                          <a:endParaRPr kumimoji="0" lang="ko-KR" altLang="en-US" sz="800" b="1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47175194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Roller</a:t>
                          </a:r>
                          <a:br>
                            <a:rPr lang="en-US" altLang="ko-KR" sz="800" b="1" dirty="0"/>
                          </a:br>
                          <a:r>
                            <a:rPr lang="en-US" altLang="ko-KR" sz="800" b="1" dirty="0"/>
                            <a:t>(Shape)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Roller diameter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48113" t="-440984" r="-158491" b="-7606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 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용어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MASTA(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94850178"/>
                      </a:ext>
                    </a:extLst>
                  </a:tr>
                  <a:tr h="57912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Roller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 length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48113" t="-347368" r="-158491" b="-38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MASTA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용어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,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 err="1">
                              <a:solidFill>
                                <a:srgbClr val="FF0000"/>
                              </a:solidFill>
                            </a:rPr>
                            <a:t>Mesys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3D CAD 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측정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90435875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Effective 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roller length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48113" t="-566667" r="-158491" b="-3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 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정의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 ISO16281(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MASTA(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값 확인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213305092"/>
                      </a:ext>
                    </a:extLst>
                  </a:tr>
                  <a:tr h="45720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Roller taper angle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48113" t="-666667" r="-158491" b="-29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 16281</a:t>
                          </a:r>
                          <a:b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(</a:t>
                          </a:r>
                          <a:r>
                            <a:rPr lang="ko-KR" altLang="en-US" sz="800" b="1" baseline="0" dirty="0">
                              <a:solidFill>
                                <a:srgbClr val="FF0000"/>
                              </a:solidFill>
                            </a:rPr>
                            <a:t>정의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,</a:t>
                          </a:r>
                          <a:r>
                            <a:rPr lang="ko-KR" altLang="en-US" sz="800" b="1" baseline="0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), </a:t>
                          </a:r>
                          <a:b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MASTA(</a:t>
                          </a:r>
                          <a:r>
                            <a:rPr lang="ko-KR" altLang="en-US" sz="800" b="1" baseline="0" dirty="0">
                              <a:solidFill>
                                <a:srgbClr val="FF0000"/>
                              </a:solidFill>
                            </a:rPr>
                            <a:t>용어</a:t>
                          </a:r>
                          <a:r>
                            <a:rPr lang="en-US" altLang="ko-KR" sz="800" b="1" baseline="0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750659"/>
                      </a:ext>
                    </a:extLst>
                  </a:tr>
                  <a:tr h="370840">
                    <a:tc rowSpan="3"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/>
                            <a:t>Roller</a:t>
                          </a:r>
                          <a:br>
                            <a:rPr lang="en-US" altLang="ko-KR" sz="800" b="1" dirty="0"/>
                          </a:br>
                          <a:r>
                            <a:rPr lang="en-US" altLang="ko-KR" sz="800" b="1" dirty="0"/>
                            <a:t>(Position)</a:t>
                          </a:r>
                          <a:endParaRPr lang="ko-KR" altLang="en-US" sz="800" b="1" dirty="0"/>
                        </a:p>
                      </a:txBody>
                      <a:tcPr anchor="ctr"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Pitch diameter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48113" t="-942623" r="-158491" b="-2590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 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정의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</a:t>
                          </a:r>
                          <a:b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</a:b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MASTA(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7611283"/>
                      </a:ext>
                    </a:extLst>
                  </a:tr>
                  <a:tr h="57912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dirty="0"/>
                            <a:t>Effective load center from cup back face</a:t>
                          </a:r>
                          <a:endParaRPr lang="ko-KR" altLang="en-US" sz="8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0" dirty="0"/>
                            <a:t>a</a:t>
                          </a:r>
                          <a:endParaRPr lang="ko-KR" altLang="en-US" sz="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dirty="0"/>
                            <a:t>MASTA(</a:t>
                          </a:r>
                          <a:r>
                            <a:rPr lang="ko-KR" altLang="en-US" sz="800" dirty="0"/>
                            <a:t>용어</a:t>
                          </a:r>
                          <a:r>
                            <a:rPr lang="en-US" altLang="ko-KR" sz="800" dirty="0"/>
                            <a:t>, </a:t>
                          </a:r>
                          <a:r>
                            <a:rPr lang="ko-KR" altLang="en-US" sz="800" dirty="0"/>
                            <a:t>정의</a:t>
                          </a:r>
                          <a:r>
                            <a:rPr lang="en-US" altLang="ko-KR" sz="800" dirty="0"/>
                            <a:t>),</a:t>
                          </a:r>
                          <a:r>
                            <a:rPr lang="en-US" altLang="ko-KR" sz="800" baseline="0" dirty="0"/>
                            <a:t> </a:t>
                          </a:r>
                          <a:br>
                            <a:rPr lang="en-US" altLang="ko-KR" sz="800" baseline="0" dirty="0"/>
                          </a:br>
                          <a:r>
                            <a:rPr lang="en-US" altLang="ko-KR" sz="800" baseline="0" dirty="0"/>
                            <a:t>ISO 16281</a:t>
                          </a:r>
                          <a:br>
                            <a:rPr lang="en-US" altLang="ko-KR" sz="800" baseline="0" dirty="0"/>
                          </a:br>
                          <a:r>
                            <a:rPr lang="en-US" altLang="ko-KR" sz="800" baseline="0" dirty="0"/>
                            <a:t>(</a:t>
                          </a:r>
                          <a:r>
                            <a:rPr lang="ko-KR" altLang="en-US" sz="800" baseline="0" dirty="0"/>
                            <a:t>정의</a:t>
                          </a:r>
                          <a:r>
                            <a:rPr lang="en-US" altLang="ko-KR" sz="800" baseline="0" dirty="0"/>
                            <a:t>, </a:t>
                          </a:r>
                          <a:r>
                            <a:rPr lang="ko-KR" altLang="en-US" sz="800" baseline="0" dirty="0"/>
                            <a:t>그림</a:t>
                          </a:r>
                          <a:r>
                            <a:rPr lang="en-US" altLang="ko-KR" sz="800" baseline="0" dirty="0"/>
                            <a:t>),</a:t>
                          </a:r>
                          <a:br>
                            <a:rPr lang="en-US" altLang="ko-KR" sz="800" baseline="0" dirty="0"/>
                          </a:br>
                          <a:r>
                            <a:rPr lang="en-US" altLang="ko-KR" sz="800" baseline="0" dirty="0"/>
                            <a:t>SKF Catalogue</a:t>
                          </a:r>
                          <a:endParaRPr lang="ko-KR" altLang="en-US" sz="8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15650876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Nominal contact angle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9"/>
                          <a:stretch>
                            <a:fillRect l="-448113" t="-1198361" r="-158491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ISO 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정의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), ISO16281(</a:t>
                          </a:r>
                          <a:r>
                            <a:rPr lang="ko-KR" altLang="en-US" sz="800" b="1" dirty="0">
                              <a:solidFill>
                                <a:srgbClr val="FF0000"/>
                              </a:solidFill>
                            </a:rPr>
                            <a:t>그림</a:t>
                          </a:r>
                          <a:r>
                            <a:rPr lang="en-US" altLang="ko-KR" sz="800" b="1" dirty="0">
                              <a:solidFill>
                                <a:srgbClr val="FF0000"/>
                              </a:solidFill>
                            </a:rPr>
                            <a:t>)</a:t>
                          </a:r>
                          <a:endParaRPr lang="ko-KR" altLang="en-US" sz="800" b="1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9647224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6" name="직선 연결선 55"/>
          <p:cNvCxnSpPr/>
          <p:nvPr/>
        </p:nvCxnSpPr>
        <p:spPr>
          <a:xfrm flipH="1">
            <a:off x="1962941" y="1757945"/>
            <a:ext cx="600444" cy="149707"/>
          </a:xfrm>
          <a:prstGeom prst="line">
            <a:avLst/>
          </a:prstGeom>
          <a:ln>
            <a:headEnd type="triangle" w="sm" len="sm"/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직사각형 57"/>
              <p:cNvSpPr/>
              <p:nvPr/>
            </p:nvSpPr>
            <p:spPr>
              <a:xfrm rot="20760000">
                <a:off x="2265196" y="1639275"/>
                <a:ext cx="279773" cy="1846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6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𝐋</m:t>
                          </m:r>
                        </m:e>
                        <m:sub>
                          <m:r>
                            <a:rPr lang="en-US" altLang="ko-KR" sz="600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𝐰𝐞</m:t>
                          </m:r>
                        </m:sub>
                      </m:sSub>
                    </m:oMath>
                  </m:oMathPara>
                </a14:m>
                <a:endParaRPr lang="ko-KR" altLang="en-US" sz="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직사각형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760000">
                <a:off x="2265196" y="1639275"/>
                <a:ext cx="279773" cy="18466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직선 연결선 62"/>
          <p:cNvCxnSpPr/>
          <p:nvPr/>
        </p:nvCxnSpPr>
        <p:spPr>
          <a:xfrm>
            <a:off x="1925357" y="1776472"/>
            <a:ext cx="146981" cy="57671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2512569" y="1569215"/>
            <a:ext cx="168280" cy="66028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770743" y="2409049"/>
            <a:ext cx="108012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</a:p>
          <a:p>
            <a:r>
              <a:rPr lang="en-US" altLang="ko-KR" sz="1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B, C, T </a:t>
            </a:r>
            <a:r>
              <a:rPr lang="ko-KR" altLang="en-US" sz="1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관계식 유무 궁금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39188" y="4952326"/>
            <a:ext cx="1400199" cy="295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ko-KR" sz="10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=(</a:t>
            </a:r>
            <a:r>
              <a:rPr lang="en-US" altLang="ko-KR" sz="1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D+d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 </a:t>
            </a:r>
            <a:r>
              <a:rPr lang="ko-KR" alt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로 사용</a:t>
            </a:r>
          </a:p>
        </p:txBody>
      </p:sp>
      <p:sp>
        <p:nvSpPr>
          <p:cNvPr id="6" name="오른쪽 중괄호 5"/>
          <p:cNvSpPr/>
          <p:nvPr/>
        </p:nvSpPr>
        <p:spPr>
          <a:xfrm>
            <a:off x="8504186" y="2432901"/>
            <a:ext cx="235619" cy="590482"/>
          </a:xfrm>
          <a:prstGeom prst="rightBrac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67302" y="3551149"/>
            <a:ext cx="1008112" cy="295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ko-KR" sz="10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ko-KR" sz="1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ko-KR" sz="10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사용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78537" y="1432204"/>
            <a:ext cx="13608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문제 단순화 가정들</a:t>
            </a:r>
            <a:endParaRPr lang="ko-KR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470475" y="5782957"/>
            <a:ext cx="1400199" cy="52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l-GR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ko-KR" sz="1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l-GR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ko-KR" sz="10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분리</a:t>
            </a:r>
            <a:endParaRPr lang="en-US" altLang="ko-KR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l-GR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ko-KR" sz="10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l-GR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ko-KR" sz="100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ko-KR" sz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)/2</a:t>
            </a:r>
            <a:endParaRPr lang="ko-KR" altLang="en-US" sz="1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14096" y="811830"/>
            <a:ext cx="2589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FF0000"/>
                </a:solidFill>
                <a:latin typeface="+mj-ea"/>
                <a:cs typeface="Times New Roman" panose="02020603050405020304" pitchFamily="18" charset="0"/>
              </a:rPr>
              <a:t>빨간색 </a:t>
            </a:r>
            <a:r>
              <a:rPr lang="en-US" altLang="ko-KR" sz="1200" b="1" dirty="0">
                <a:solidFill>
                  <a:srgbClr val="FF0000"/>
                </a:solidFill>
                <a:latin typeface="+mj-ea"/>
                <a:cs typeface="Times New Roman" panose="02020603050405020304" pitchFamily="18" charset="0"/>
              </a:rPr>
              <a:t>– </a:t>
            </a:r>
            <a:r>
              <a:rPr lang="ko-KR" altLang="en-US" sz="1200" b="1" dirty="0" err="1">
                <a:solidFill>
                  <a:srgbClr val="FF0000"/>
                </a:solidFill>
                <a:latin typeface="+mj-ea"/>
                <a:cs typeface="Times New Roman" panose="02020603050405020304" pitchFamily="18" charset="0"/>
              </a:rPr>
              <a:t>설계변수</a:t>
            </a:r>
            <a:endParaRPr lang="en-US" altLang="ko-KR" sz="1200" b="1" dirty="0">
              <a:solidFill>
                <a:srgbClr val="FF0000"/>
              </a:solidFill>
              <a:latin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200" b="1" dirty="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파란색 </a:t>
            </a:r>
            <a:r>
              <a:rPr lang="en-US" altLang="ko-KR" sz="1200" b="1" dirty="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– </a:t>
            </a:r>
            <a:r>
              <a:rPr lang="ko-KR" altLang="en-US" sz="1200" b="1" dirty="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고정 </a:t>
            </a:r>
            <a:r>
              <a:rPr lang="en-US" altLang="ko-KR" sz="1200" b="1" dirty="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parameter</a:t>
            </a:r>
            <a:endParaRPr lang="ko-KR" altLang="en-US" sz="1200" b="1" dirty="0">
              <a:solidFill>
                <a:srgbClr val="0000FF"/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313040" y="6263426"/>
            <a:ext cx="1346844" cy="2934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Radial clearance, </a:t>
            </a:r>
            <a:r>
              <a:rPr lang="en-US" altLang="ko-KR" sz="1000" b="1" dirty="0" err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L</a:t>
            </a:r>
            <a:r>
              <a:rPr lang="en-US" altLang="ko-KR" sz="1000" b="1" baseline="-25000" dirty="0" err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r</a:t>
            </a:r>
            <a:endParaRPr lang="ko-KR" altLang="en-US" sz="1000" b="1" baseline="-25000" dirty="0">
              <a:solidFill>
                <a:srgbClr val="0000FF"/>
              </a:solidFill>
              <a:latin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834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2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TRB </a:t>
            </a:r>
            <a:r>
              <a:rPr lang="ko-KR" altLang="en-US" dirty="0"/>
              <a:t>최적설계 문제 정식화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032" y="836712"/>
            <a:ext cx="9417496" cy="39287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u="sng" dirty="0" err="1">
                <a:latin typeface="+mj-ea"/>
                <a:cs typeface="Times New Roman" panose="02020603050405020304" pitchFamily="18" charset="0"/>
              </a:rPr>
              <a:t>목적함수</a:t>
            </a: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질량 최소화 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(TRB </a:t>
            </a: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구성 재료는 동일 재료 가정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</a:t>
            </a: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부피 최소화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u="sng" dirty="0">
                <a:latin typeface="+mj-ea"/>
                <a:cs typeface="Times New Roman" panose="02020603050405020304" pitchFamily="18" charset="0"/>
              </a:rPr>
              <a:t>제약조건</a:t>
            </a: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기하학적 간섭 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X </a:t>
            </a:r>
            <a:r>
              <a:rPr lang="en-US" altLang="ko-KR" sz="1400" b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(16</a:t>
            </a:r>
            <a:r>
              <a:rPr lang="ko-KR" altLang="en-US" sz="1400" b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개 사용</a:t>
            </a:r>
            <a:r>
              <a:rPr lang="en-US" altLang="ko-KR" sz="1400" b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, </a:t>
            </a:r>
            <a:r>
              <a:rPr lang="en-US" altLang="ko-KR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1</a:t>
            </a:r>
            <a:r>
              <a:rPr lang="ko-KR" altLang="en-US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개 추가 </a:t>
            </a:r>
            <a:r>
              <a:rPr lang="en-US" altLang="ko-KR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(roller </a:t>
            </a:r>
            <a:r>
              <a:rPr lang="ko-KR" altLang="en-US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최대 길이 관련 제약조건</a:t>
            </a:r>
            <a:r>
              <a:rPr lang="en-US" altLang="ko-KR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)</a:t>
            </a:r>
            <a:r>
              <a:rPr lang="en-US" altLang="ko-KR" sz="1400" b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)</a:t>
            </a:r>
            <a:endParaRPr lang="en-US" altLang="ko-KR" sz="1400" b="1" dirty="0">
              <a:solidFill>
                <a:srgbClr val="0000FF"/>
              </a:solidFill>
              <a:latin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피로 수명 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&gt; 20(</a:t>
            </a:r>
            <a:r>
              <a:rPr lang="ko-KR" altLang="en-US" sz="1400">
                <a:latin typeface="+mj-ea"/>
                <a:cs typeface="Times New Roman" panose="02020603050405020304" pitchFamily="18" charset="0"/>
              </a:rPr>
              <a:t>년</a:t>
            </a:r>
            <a:r>
              <a:rPr lang="en-US" altLang="ko-KR" sz="1400">
                <a:latin typeface="+mj-ea"/>
                <a:cs typeface="Times New Roman" panose="02020603050405020304" pitchFamily="18" charset="0"/>
              </a:rPr>
              <a:t>)</a:t>
            </a:r>
            <a:endParaRPr lang="en-US" altLang="ko-KR" sz="1400" dirty="0">
              <a:latin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 b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EHL </a:t>
            </a:r>
            <a:r>
              <a:rPr lang="ko-KR" altLang="en-US" sz="1400" b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기반 최소 </a:t>
            </a:r>
            <a:r>
              <a:rPr lang="ko-KR" altLang="en-US" sz="1400" b="1" dirty="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윤활 두께</a:t>
            </a:r>
            <a:r>
              <a:rPr lang="en-US" altLang="ko-KR" sz="1400" b="1" dirty="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, </a:t>
            </a:r>
            <a:r>
              <a:rPr lang="en-US" altLang="ko-KR" sz="1400" b="1" i="1" dirty="0" err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h</a:t>
            </a:r>
            <a:r>
              <a:rPr lang="en-US" altLang="ko-KR" sz="1400" b="1" i="1" baseline="-25000" dirty="0" err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min</a:t>
            </a:r>
            <a:r>
              <a:rPr lang="en-US" altLang="ko-KR" sz="1400" b="1" dirty="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 &gt; </a:t>
            </a:r>
            <a:r>
              <a:rPr lang="en-US" altLang="ko-KR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h</a:t>
            </a:r>
            <a:r>
              <a:rPr lang="en-US" altLang="ko-KR" sz="1400" b="1" i="1" baseline="-25000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min0 </a:t>
            </a:r>
            <a:r>
              <a:rPr lang="en-US" altLang="ko-KR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 (</a:t>
            </a:r>
            <a:r>
              <a:rPr lang="ko-KR" altLang="en-US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새로 추가</a:t>
            </a:r>
            <a:r>
              <a:rPr lang="en-US" altLang="ko-KR" sz="1400" b="1" i="1">
                <a:solidFill>
                  <a:srgbClr val="0000FF"/>
                </a:solidFill>
                <a:latin typeface="+mj-ea"/>
                <a:cs typeface="Times New Roman" panose="02020603050405020304" pitchFamily="18" charset="0"/>
              </a:rPr>
              <a:t>)</a:t>
            </a:r>
            <a:endParaRPr lang="en-US" altLang="ko-KR" sz="1400" b="1" i="1" dirty="0">
              <a:solidFill>
                <a:srgbClr val="0000FF"/>
              </a:solidFill>
              <a:latin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+mj-ea"/>
                <a:cs typeface="Times New Roman" panose="02020603050405020304" pitchFamily="18" charset="0"/>
              </a:rPr>
              <a:t>Maximum contact stress &lt; ??? MPa </a:t>
            </a:r>
            <a:r>
              <a:rPr lang="en-US" altLang="ko-KR" sz="1400" i="1" dirty="0">
                <a:solidFill>
                  <a:schemeClr val="bg1">
                    <a:lumMod val="50000"/>
                  </a:schemeClr>
                </a:solidFill>
                <a:latin typeface="+mj-ea"/>
                <a:cs typeface="Times New Roman" panose="02020603050405020304" pitchFamily="18" charset="0"/>
              </a:rPr>
              <a:t>(</a:t>
            </a:r>
            <a:r>
              <a:rPr lang="ko-KR" altLang="en-US" sz="1400" i="1" dirty="0">
                <a:solidFill>
                  <a:schemeClr val="bg1">
                    <a:lumMod val="50000"/>
                  </a:schemeClr>
                </a:solidFill>
                <a:latin typeface="+mj-ea"/>
                <a:cs typeface="Times New Roman" panose="02020603050405020304" pitchFamily="18" charset="0"/>
              </a:rPr>
              <a:t>반영 예정</a:t>
            </a:r>
            <a:r>
              <a:rPr lang="en-US" altLang="ko-KR" sz="1400" i="1" dirty="0">
                <a:solidFill>
                  <a:schemeClr val="bg1">
                    <a:lumMod val="50000"/>
                  </a:schemeClr>
                </a:solidFill>
                <a:latin typeface="+mj-ea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>
                <a:latin typeface="+mj-ea"/>
                <a:cs typeface="Times New Roman" panose="02020603050405020304" pitchFamily="18" charset="0"/>
              </a:rPr>
              <a:t>Fixed</a:t>
            </a:r>
            <a:r>
              <a:rPr lang="en-US" altLang="ko-KR" sz="1400" b="1" dirty="0">
                <a:latin typeface="+mj-ea"/>
                <a:cs typeface="Times New Roman" panose="02020603050405020304" pitchFamily="18" charset="0"/>
              </a:rPr>
              <a:t>: 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Inner ring width (B) – 200 mm, Outer ring width (C) – 152 mm, Radial clearance (</a:t>
            </a:r>
            <a:r>
              <a:rPr lang="en-US" altLang="ko-KR" sz="1400" dirty="0" err="1">
                <a:latin typeface="+mj-ea"/>
                <a:cs typeface="Times New Roman" panose="02020603050405020304" pitchFamily="18" charset="0"/>
              </a:rPr>
              <a:t>L</a:t>
            </a:r>
            <a:r>
              <a:rPr lang="en-US" altLang="ko-KR" sz="1400" baseline="-25000" dirty="0" err="1">
                <a:latin typeface="+mj-ea"/>
                <a:cs typeface="Times New Roman" panose="02020603050405020304" pitchFamily="18" charset="0"/>
              </a:rPr>
              <a:t>r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) = 20 </a:t>
            </a:r>
            <a:r>
              <a:rPr lang="el-GR" altLang="ko-KR" sz="1400" i="1" dirty="0">
                <a:latin typeface="+mj-ea"/>
                <a:cs typeface="Times New Roman" panose="02020603050405020304" pitchFamily="18" charset="0"/>
              </a:rPr>
              <a:t>μ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u="sng">
                <a:latin typeface="+mj-ea"/>
                <a:cs typeface="Times New Roman" panose="02020603050405020304" pitchFamily="18" charset="0"/>
              </a:rPr>
              <a:t>하중조건 </a:t>
            </a:r>
            <a:r>
              <a:rPr lang="en-US" altLang="ko-KR" sz="1400" b="1" u="sng">
                <a:latin typeface="+mj-ea"/>
                <a:cs typeface="Times New Roman" panose="02020603050405020304" pitchFamily="18" charset="0"/>
              </a:rPr>
              <a:t>(Total 5 cases)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>
                <a:latin typeface="+mj-ea"/>
                <a:cs typeface="Times New Roman" panose="02020603050405020304" pitchFamily="18" charset="0"/>
              </a:rPr>
              <a:t>Numerical Case A~D (</a:t>
            </a:r>
            <a:r>
              <a:rPr lang="ko-KR" altLang="en-US" sz="1400">
                <a:latin typeface="+mj-ea"/>
                <a:cs typeface="Times New Roman" panose="02020603050405020304" pitchFamily="18" charset="0"/>
              </a:rPr>
              <a:t>테스트는 </a:t>
            </a:r>
            <a:r>
              <a:rPr lang="en-US" altLang="ko-KR" sz="1400">
                <a:latin typeface="+mj-ea"/>
                <a:cs typeface="Times New Roman" panose="02020603050405020304" pitchFamily="18" charset="0"/>
              </a:rPr>
              <a:t>B</a:t>
            </a:r>
            <a:r>
              <a:rPr lang="ko-KR" altLang="en-US" sz="1400">
                <a:latin typeface="+mj-ea"/>
                <a:cs typeface="Times New Roman" panose="02020603050405020304" pitchFamily="18" charset="0"/>
              </a:rPr>
              <a:t>만</a:t>
            </a:r>
            <a:r>
              <a:rPr lang="en-US" altLang="ko-KR" sz="1400">
                <a:latin typeface="+mj-ea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>
                <a:latin typeface="+mj-ea"/>
                <a:cs typeface="Times New Roman" panose="02020603050405020304" pitchFamily="18" charset="0"/>
              </a:rPr>
              <a:t>Fatigue load spectrum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>
                <a:latin typeface="+mj-ea"/>
                <a:cs typeface="Times New Roman" panose="02020603050405020304" pitchFamily="18" charset="0"/>
              </a:rPr>
              <a:t>5MW </a:t>
            </a:r>
            <a:r>
              <a:rPr lang="ko-KR" altLang="en-US" sz="1400">
                <a:latin typeface="+mj-ea"/>
                <a:cs typeface="Times New Roman" panose="02020603050405020304" pitchFamily="18" charset="0"/>
              </a:rPr>
              <a:t>급 설계 논문에서 그대로 가져옴</a:t>
            </a:r>
            <a:endParaRPr lang="en-US" altLang="ko-KR" sz="1400" dirty="0">
              <a:latin typeface="+mj-ea"/>
              <a:cs typeface="Times New Roman" panose="02020603050405020304" pitchFamily="18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831" y="3538783"/>
            <a:ext cx="5491072" cy="917714"/>
          </a:xfrm>
          <a:prstGeom prst="rect">
            <a:avLst/>
          </a:prstGeom>
          <a:ln>
            <a:noFill/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431" y="4480321"/>
            <a:ext cx="5312961" cy="2039666"/>
          </a:xfrm>
          <a:prstGeom prst="rect">
            <a:avLst/>
          </a:prstGeom>
          <a:ln w="9525">
            <a:solidFill>
              <a:srgbClr val="FF0000"/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94939" y="5258022"/>
            <a:ext cx="4207554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ko-KR" altLang="en-US" sz="105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하중 출처</a:t>
            </a:r>
            <a:r>
              <a:rPr lang="en-US" altLang="ko-KR" sz="105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r>
              <a:rPr lang="en-US" altLang="ko-KR" sz="105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Jiang, Z., Huang, X., Wang, B., Liao, X., Liu, H., &amp; Ding, P. (2024). Time-dependent reliability-based design optimization of main shaft bearings in wind turbines involving mixed-integer variables. </a:t>
            </a:r>
            <a:r>
              <a:rPr lang="en-US" altLang="ko-KR" sz="1050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 Engineering &amp; System Safety</a:t>
            </a:r>
            <a:r>
              <a:rPr lang="en-US" altLang="ko-KR" sz="105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altLang="ko-KR" sz="1050" i="1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243</a:t>
            </a:r>
            <a:r>
              <a:rPr lang="en-US" altLang="ko-KR" sz="105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109817.</a:t>
            </a:r>
            <a:endParaRPr lang="ko-KR" alt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D11408-B41F-51E9-2211-CF52CF067355}"/>
              </a:ext>
            </a:extLst>
          </p:cNvPr>
          <p:cNvSpPr/>
          <p:nvPr/>
        </p:nvSpPr>
        <p:spPr>
          <a:xfrm>
            <a:off x="4419600" y="4070350"/>
            <a:ext cx="5372100" cy="10795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75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3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TRB </a:t>
            </a:r>
            <a:r>
              <a:rPr lang="ko-KR" altLang="en-US" dirty="0"/>
              <a:t>최적설계 문제 정식화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88032" y="836712"/>
            <a:ext cx="94174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u="sng" dirty="0">
                <a:latin typeface="+mj-ea"/>
                <a:cs typeface="Times New Roman" panose="02020603050405020304" pitchFamily="18" charset="0"/>
              </a:rPr>
              <a:t>최적화 수행 과정</a:t>
            </a: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>
                <a:latin typeface="+mj-ea"/>
                <a:cs typeface="Times New Roman" panose="02020603050405020304" pitchFamily="18" charset="0"/>
              </a:rPr>
              <a:t>피로 수명</a:t>
            </a:r>
            <a:r>
              <a:rPr lang="en-US" altLang="ko-KR" sz="1400">
                <a:latin typeface="+mj-ea"/>
                <a:cs typeface="Times New Roman" panose="02020603050405020304" pitchFamily="18" charset="0"/>
              </a:rPr>
              <a:t>/</a:t>
            </a:r>
            <a:r>
              <a:rPr lang="ko-KR" altLang="en-US" sz="1400">
                <a:latin typeface="+mj-ea"/>
                <a:cs typeface="Times New Roman" panose="02020603050405020304" pitchFamily="18" charset="0"/>
              </a:rPr>
              <a:t>윤활 </a:t>
            </a: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계산 시간 때문에 전역 최적화 방법은 시간이 오래 걸림 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(GA, ...)</a:t>
            </a: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gradient </a:t>
            </a: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기반 방법은 정수형 변수를 처리 불가</a:t>
            </a:r>
            <a:endParaRPr lang="en-US" altLang="ko-KR" sz="1400" dirty="0">
              <a:latin typeface="+mj-ea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롤러 개수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(Z) </a:t>
            </a: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를 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1</a:t>
            </a: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씩 키우면서 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gradient </a:t>
            </a: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기반 최적화 방법 수행 후 </a:t>
            </a:r>
            <a:r>
              <a:rPr lang="ko-KR" altLang="en-US" sz="1400" dirty="0" err="1">
                <a:latin typeface="+mj-ea"/>
                <a:cs typeface="Times New Roman" panose="02020603050405020304" pitchFamily="18" charset="0"/>
              </a:rPr>
              <a:t>최적값</a:t>
            </a:r>
            <a:r>
              <a:rPr lang="ko-KR" altLang="en-US" sz="1400" dirty="0">
                <a:latin typeface="+mj-ea"/>
                <a:cs typeface="Times New Roman" panose="02020603050405020304" pitchFamily="18" charset="0"/>
              </a:rPr>
              <a:t> 선택</a:t>
            </a:r>
            <a:endParaRPr lang="en-US" altLang="ko-KR" sz="1400" dirty="0">
              <a:latin typeface="+mj-ea"/>
              <a:cs typeface="Times New Roman" panose="02020603050405020304" pitchFamily="18" charset="0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987066" y="2338207"/>
            <a:ext cx="2299617" cy="4084521"/>
            <a:chOff x="617672" y="2386652"/>
            <a:chExt cx="2299617" cy="4084521"/>
          </a:xfrm>
        </p:grpSpPr>
        <p:sp>
          <p:nvSpPr>
            <p:cNvPr id="7" name="직사각형 6"/>
            <p:cNvSpPr/>
            <p:nvPr/>
          </p:nvSpPr>
          <p:spPr>
            <a:xfrm>
              <a:off x="1011564" y="2386652"/>
              <a:ext cx="1511832" cy="2880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</a:t>
              </a:r>
              <a:r>
                <a:rPr lang="en-US" altLang="ko-KR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ko-KR" sz="1400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lb</a:t>
              </a:r>
              <a:endParaRPr lang="ko-KR" altLang="en-US" sz="14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011564" y="2898255"/>
              <a:ext cx="1511832" cy="43154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gradient-based optimization</a:t>
              </a:r>
              <a:endParaRPr lang="ko-KR" altLang="en-US" sz="12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011565" y="3561776"/>
              <a:ext cx="1511831" cy="2677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4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opt,k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ko-KR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 – </a:t>
              </a:r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val,k</a:t>
              </a:r>
              <a:endParaRPr lang="ko-KR" alt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011564" y="4513441"/>
              <a:ext cx="1511832" cy="561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</a:t>
              </a:r>
              <a:r>
                <a:rPr lang="en-US" altLang="ko-KR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min</a:t>
              </a:r>
              <a:r>
                <a:rPr lang="en-US" altLang="ko-KR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val,k</a:t>
              </a:r>
              <a:endParaRPr lang="en-US" altLang="ko-KR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ko-KR" sz="14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</a:t>
              </a:r>
              <a:r>
                <a:rPr lang="en-US" altLang="ko-KR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4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opt,k,</a:t>
              </a:r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순서도: 판단 13"/>
            <p:cNvSpPr/>
            <p:nvPr/>
          </p:nvSpPr>
          <p:spPr>
            <a:xfrm>
              <a:off x="617672" y="4013135"/>
              <a:ext cx="2299617" cy="29692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val,min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</a:t>
              </a:r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val,k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?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직선 화살표 연결선 14"/>
            <p:cNvCxnSpPr>
              <a:stCxn id="7" idx="2"/>
            </p:cNvCxnSpPr>
            <p:nvPr/>
          </p:nvCxnSpPr>
          <p:spPr>
            <a:xfrm>
              <a:off x="1767480" y="2674684"/>
              <a:ext cx="1" cy="20655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/>
            <p:cNvCxnSpPr>
              <a:stCxn id="10" idx="2"/>
              <a:endCxn id="12" idx="0"/>
            </p:cNvCxnSpPr>
            <p:nvPr/>
          </p:nvCxnSpPr>
          <p:spPr>
            <a:xfrm>
              <a:off x="1767480" y="3329797"/>
              <a:ext cx="1" cy="23197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/>
            <p:cNvCxnSpPr>
              <a:stCxn id="12" idx="2"/>
              <a:endCxn id="14" idx="0"/>
            </p:cNvCxnSpPr>
            <p:nvPr/>
          </p:nvCxnSpPr>
          <p:spPr>
            <a:xfrm>
              <a:off x="1767481" y="3829526"/>
              <a:ext cx="0" cy="1836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/>
            <p:cNvCxnSpPr>
              <a:stCxn id="14" idx="2"/>
              <a:endCxn id="13" idx="0"/>
            </p:cNvCxnSpPr>
            <p:nvPr/>
          </p:nvCxnSpPr>
          <p:spPr>
            <a:xfrm flipH="1">
              <a:off x="1767480" y="4310063"/>
              <a:ext cx="1" cy="20337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직사각형 29"/>
            <p:cNvSpPr/>
            <p:nvPr/>
          </p:nvSpPr>
          <p:spPr>
            <a:xfrm>
              <a:off x="1011564" y="5265258"/>
              <a:ext cx="1511832" cy="26775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ko-KR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</a:t>
              </a:r>
              <a:r>
                <a:rPr lang="en-US" altLang="ko-KR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ko-KR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+1</a:t>
              </a:r>
              <a:endParaRPr lang="ko-KR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순서도: 판단 48"/>
            <p:cNvSpPr/>
            <p:nvPr/>
          </p:nvSpPr>
          <p:spPr>
            <a:xfrm>
              <a:off x="617672" y="5724772"/>
              <a:ext cx="2299617" cy="29692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ko-KR" sz="1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&gt; </a:t>
              </a:r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ub</a:t>
              </a:r>
              <a:endParaRPr lang="ko-KR" altLang="en-US" sz="1400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2" name="꺾인 연결선 81"/>
            <p:cNvCxnSpPr>
              <a:stCxn id="49" idx="3"/>
            </p:cNvCxnSpPr>
            <p:nvPr/>
          </p:nvCxnSpPr>
          <p:spPr>
            <a:xfrm flipH="1" flipV="1">
              <a:off x="1786411" y="2791645"/>
              <a:ext cx="1130878" cy="3081591"/>
            </a:xfrm>
            <a:prstGeom prst="bentConnector4">
              <a:avLst>
                <a:gd name="adj1" fmla="val -20214"/>
                <a:gd name="adj2" fmla="val 99964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/>
            <p:cNvCxnSpPr>
              <a:stCxn id="13" idx="2"/>
              <a:endCxn id="30" idx="0"/>
            </p:cNvCxnSpPr>
            <p:nvPr/>
          </p:nvCxnSpPr>
          <p:spPr>
            <a:xfrm>
              <a:off x="1767480" y="5074617"/>
              <a:ext cx="0" cy="1906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화살표 연결선 87"/>
            <p:cNvCxnSpPr>
              <a:stCxn id="30" idx="2"/>
              <a:endCxn id="49" idx="0"/>
            </p:cNvCxnSpPr>
            <p:nvPr/>
          </p:nvCxnSpPr>
          <p:spPr>
            <a:xfrm>
              <a:off x="1767480" y="5533008"/>
              <a:ext cx="1" cy="1917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/>
            <p:cNvCxnSpPr>
              <a:stCxn id="49" idx="2"/>
              <a:endCxn id="96" idx="0"/>
            </p:cNvCxnSpPr>
            <p:nvPr/>
          </p:nvCxnSpPr>
          <p:spPr>
            <a:xfrm flipH="1">
              <a:off x="1767480" y="6021700"/>
              <a:ext cx="1" cy="16888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직사각형 95"/>
            <p:cNvSpPr/>
            <p:nvPr/>
          </p:nvSpPr>
          <p:spPr>
            <a:xfrm>
              <a:off x="1011564" y="6190585"/>
              <a:ext cx="1511832" cy="2805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i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val</a:t>
              </a:r>
              <a:r>
                <a:rPr lang="en-US" altLang="ko-KR" sz="1400" i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min</a:t>
              </a:r>
              <a:r>
                <a:rPr lang="en-US" altLang="ko-KR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ko-KR" sz="1400" b="1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ko-KR" sz="1400" i="1" baseline="-250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opt</a:t>
              </a:r>
              <a:endParaRPr lang="ko-KR" altLang="en-US" sz="1400" i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3171626" y="5523574"/>
            <a:ext cx="567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2402562" y="5838466"/>
            <a:ext cx="567914" cy="33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ko-KR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6522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F021-D7A2-651A-2AE1-91DAC880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787CB5-C764-8F11-0EB6-C57110B2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4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B974012-400A-01F5-C252-26C96453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Volume </a:t>
            </a:r>
            <a:r>
              <a:rPr lang="ko-KR" altLang="en-US"/>
              <a:t>계산법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4AD384-CFBA-3A75-0243-37E4FDDC9C7C}"/>
              </a:ext>
            </a:extLst>
          </p:cNvPr>
          <p:cNvSpPr txBox="1"/>
          <p:nvPr/>
        </p:nvSpPr>
        <p:spPr>
          <a:xfrm>
            <a:off x="288032" y="836712"/>
            <a:ext cx="9417496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b="1" u="sng">
                <a:latin typeface="+mj-ea"/>
                <a:cs typeface="Times New Roman" panose="02020603050405020304" pitchFamily="18" charset="0"/>
              </a:rPr>
              <a:t>단순화된 형상으로 근사적으로 </a:t>
            </a:r>
            <a:r>
              <a:rPr lang="ko-KR" altLang="en-US" sz="1400" b="1" u="sng" dirty="0">
                <a:latin typeface="+mj-ea"/>
                <a:cs typeface="Times New Roman" panose="02020603050405020304" pitchFamily="18" charset="0"/>
              </a:rPr>
              <a:t>계산</a:t>
            </a: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>
              <a:latin typeface="+mj-ea"/>
              <a:cs typeface="Times New Roman" panose="02020603050405020304" pitchFamily="18" charset="0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3008784" y="1665469"/>
            <a:ext cx="1281296" cy="4137502"/>
            <a:chOff x="2553168" y="1645920"/>
            <a:chExt cx="1281296" cy="4137502"/>
          </a:xfrm>
        </p:grpSpPr>
        <p:sp>
          <p:nvSpPr>
            <p:cNvPr id="35" name="직사각형 34"/>
            <p:cNvSpPr/>
            <p:nvPr/>
          </p:nvSpPr>
          <p:spPr>
            <a:xfrm>
              <a:off x="2567473" y="1654149"/>
              <a:ext cx="1252688" cy="4129273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2553168" y="1645920"/>
              <a:ext cx="1274144" cy="1194065"/>
              <a:chOff x="2553168" y="1645920"/>
              <a:chExt cx="1274144" cy="1194065"/>
            </a:xfrm>
          </p:grpSpPr>
          <p:cxnSp>
            <p:nvCxnSpPr>
              <p:cNvPr id="21" name="직선 연결선 20"/>
              <p:cNvCxnSpPr/>
              <p:nvPr/>
            </p:nvCxnSpPr>
            <p:spPr>
              <a:xfrm flipV="1">
                <a:off x="2632075" y="2040046"/>
                <a:ext cx="1047750" cy="423993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" name="그룹 12"/>
              <p:cNvGrpSpPr/>
              <p:nvPr/>
            </p:nvGrpSpPr>
            <p:grpSpPr>
              <a:xfrm>
                <a:off x="2553168" y="1645920"/>
                <a:ext cx="1274144" cy="1194065"/>
                <a:chOff x="2553168" y="1645920"/>
                <a:chExt cx="1274144" cy="1194065"/>
              </a:xfrm>
            </p:grpSpPr>
            <p:grpSp>
              <p:nvGrpSpPr>
                <p:cNvPr id="11" name="그룹 10"/>
                <p:cNvGrpSpPr/>
                <p:nvPr/>
              </p:nvGrpSpPr>
              <p:grpSpPr>
                <a:xfrm>
                  <a:off x="2553168" y="1645920"/>
                  <a:ext cx="1274144" cy="1194065"/>
                  <a:chOff x="2482048" y="1686560"/>
                  <a:chExt cx="1274144" cy="1194065"/>
                </a:xfrm>
              </p:grpSpPr>
              <p:pic>
                <p:nvPicPr>
                  <p:cNvPr id="8" name="그림 7"/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t="53029"/>
                  <a:stretch/>
                </p:blipFill>
                <p:spPr>
                  <a:xfrm>
                    <a:off x="2482048" y="1686560"/>
                    <a:ext cx="908383" cy="549815"/>
                  </a:xfrm>
                  <a:prstGeom prst="rect">
                    <a:avLst/>
                  </a:prstGeom>
                </p:spPr>
              </p:pic>
              <p:sp>
                <p:nvSpPr>
                  <p:cNvPr id="4" name="직사각형 3"/>
                  <p:cNvSpPr/>
                  <p:nvPr/>
                </p:nvSpPr>
                <p:spPr>
                  <a:xfrm>
                    <a:off x="2489200" y="1686560"/>
                    <a:ext cx="1259840" cy="1194065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10" name="그림 9"/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b="57999"/>
                  <a:stretch/>
                </p:blipFill>
                <p:spPr>
                  <a:xfrm>
                    <a:off x="2646624" y="2388996"/>
                    <a:ext cx="1109568" cy="49162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2" name="사다리꼴 11"/>
                <p:cNvSpPr/>
                <p:nvPr/>
              </p:nvSpPr>
              <p:spPr>
                <a:xfrm rot="14986594">
                  <a:off x="2865132" y="1872652"/>
                  <a:ext cx="583609" cy="789986"/>
                </a:xfrm>
                <a:prstGeom prst="trapezoid">
                  <a:avLst>
                    <a:gd name="adj" fmla="val 2715"/>
                  </a:avLst>
                </a:prstGeom>
                <a:gradFill flip="none" rotWithShape="1">
                  <a:gsLst>
                    <a:gs pos="0">
                      <a:schemeClr val="accent4">
                        <a:lumMod val="5000"/>
                        <a:lumOff val="95000"/>
                      </a:schemeClr>
                    </a:gs>
                    <a:gs pos="74000">
                      <a:schemeClr val="accent4">
                        <a:lumMod val="45000"/>
                        <a:lumOff val="55000"/>
                      </a:schemeClr>
                    </a:gs>
                    <a:gs pos="83000">
                      <a:schemeClr val="accent4">
                        <a:lumMod val="45000"/>
                        <a:lumOff val="55000"/>
                      </a:schemeClr>
                    </a:gs>
                    <a:gs pos="100000">
                      <a:schemeClr val="accent4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36" name="그룹 35"/>
            <p:cNvGrpSpPr/>
            <p:nvPr/>
          </p:nvGrpSpPr>
          <p:grpSpPr>
            <a:xfrm flipV="1">
              <a:off x="2560320" y="4581128"/>
              <a:ext cx="1274144" cy="1194065"/>
              <a:chOff x="2553168" y="1645920"/>
              <a:chExt cx="1274144" cy="1194065"/>
            </a:xfrm>
          </p:grpSpPr>
          <p:cxnSp>
            <p:nvCxnSpPr>
              <p:cNvPr id="37" name="직선 연결선 36"/>
              <p:cNvCxnSpPr/>
              <p:nvPr/>
            </p:nvCxnSpPr>
            <p:spPr>
              <a:xfrm flipV="1">
                <a:off x="2632075" y="2040046"/>
                <a:ext cx="1047750" cy="423993"/>
              </a:xfrm>
              <a:prstGeom prst="line">
                <a:avLst/>
              </a:prstGeom>
              <a:ln w="7620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그룹 37"/>
              <p:cNvGrpSpPr/>
              <p:nvPr/>
            </p:nvGrpSpPr>
            <p:grpSpPr>
              <a:xfrm>
                <a:off x="2553168" y="1645920"/>
                <a:ext cx="1274144" cy="1194065"/>
                <a:chOff x="2553168" y="1645920"/>
                <a:chExt cx="1274144" cy="1194065"/>
              </a:xfrm>
            </p:grpSpPr>
            <p:grpSp>
              <p:nvGrpSpPr>
                <p:cNvPr id="39" name="그룹 38"/>
                <p:cNvGrpSpPr/>
                <p:nvPr/>
              </p:nvGrpSpPr>
              <p:grpSpPr>
                <a:xfrm>
                  <a:off x="2553168" y="1645920"/>
                  <a:ext cx="1274144" cy="1194065"/>
                  <a:chOff x="2482048" y="1686560"/>
                  <a:chExt cx="1274144" cy="1194065"/>
                </a:xfrm>
              </p:grpSpPr>
              <p:pic>
                <p:nvPicPr>
                  <p:cNvPr id="41" name="그림 40"/>
                  <p:cNvPicPr>
                    <a:picLocks noChangeAspect="1"/>
                  </p:cNvPicPr>
                  <p:nvPr/>
                </p:nvPicPr>
                <p:blipFill rotWithShape="1">
                  <a:blip r:embed="rId2"/>
                  <a:srcRect t="53029"/>
                  <a:stretch/>
                </p:blipFill>
                <p:spPr>
                  <a:xfrm>
                    <a:off x="2482048" y="1686560"/>
                    <a:ext cx="908383" cy="549815"/>
                  </a:xfrm>
                  <a:prstGeom prst="rect">
                    <a:avLst/>
                  </a:prstGeom>
                </p:spPr>
              </p:pic>
              <p:pic>
                <p:nvPicPr>
                  <p:cNvPr id="43" name="그림 42"/>
                  <p:cNvPicPr>
                    <a:picLocks noChangeAspect="1"/>
                  </p:cNvPicPr>
                  <p:nvPr/>
                </p:nvPicPr>
                <p:blipFill rotWithShape="1">
                  <a:blip r:embed="rId3"/>
                  <a:srcRect b="57999"/>
                  <a:stretch/>
                </p:blipFill>
                <p:spPr>
                  <a:xfrm>
                    <a:off x="2646624" y="2388996"/>
                    <a:ext cx="1109568" cy="491629"/>
                  </a:xfrm>
                  <a:prstGeom prst="rect">
                    <a:avLst/>
                  </a:prstGeom>
                </p:spPr>
              </p:pic>
              <p:sp>
                <p:nvSpPr>
                  <p:cNvPr id="42" name="직사각형 41"/>
                  <p:cNvSpPr/>
                  <p:nvPr/>
                </p:nvSpPr>
                <p:spPr>
                  <a:xfrm>
                    <a:off x="2489200" y="1686560"/>
                    <a:ext cx="1259840" cy="1194065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40" name="사다리꼴 39"/>
                <p:cNvSpPr/>
                <p:nvPr/>
              </p:nvSpPr>
              <p:spPr>
                <a:xfrm rot="14986594">
                  <a:off x="2865132" y="1872652"/>
                  <a:ext cx="583609" cy="789986"/>
                </a:xfrm>
                <a:prstGeom prst="trapezoid">
                  <a:avLst>
                    <a:gd name="adj" fmla="val 2715"/>
                  </a:avLst>
                </a:prstGeom>
                <a:gradFill flip="none" rotWithShape="1">
                  <a:gsLst>
                    <a:gs pos="0">
                      <a:schemeClr val="accent4">
                        <a:lumMod val="5000"/>
                        <a:lumOff val="95000"/>
                      </a:schemeClr>
                    </a:gs>
                    <a:gs pos="74000">
                      <a:schemeClr val="accent4">
                        <a:lumMod val="45000"/>
                        <a:lumOff val="55000"/>
                      </a:schemeClr>
                    </a:gs>
                    <a:gs pos="83000">
                      <a:schemeClr val="accent4">
                        <a:lumMod val="45000"/>
                        <a:lumOff val="55000"/>
                      </a:schemeClr>
                    </a:gs>
                    <a:gs pos="100000">
                      <a:schemeClr val="accent4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46" name="그림 45"/>
          <p:cNvPicPr>
            <a:picLocks noChangeAspect="1"/>
          </p:cNvPicPr>
          <p:nvPr/>
        </p:nvPicPr>
        <p:blipFill rotWithShape="1">
          <a:blip r:embed="rId4"/>
          <a:srcRect t="257" b="-1"/>
          <a:stretch/>
        </p:blipFill>
        <p:spPr>
          <a:xfrm>
            <a:off x="579437" y="1611880"/>
            <a:ext cx="1241977" cy="4244680"/>
          </a:xfrm>
          <a:prstGeom prst="rect">
            <a:avLst/>
          </a:prstGeom>
        </p:spPr>
      </p:pic>
      <p:cxnSp>
        <p:nvCxnSpPr>
          <p:cNvPr id="47" name="직선 연결선 46"/>
          <p:cNvCxnSpPr/>
          <p:nvPr/>
        </p:nvCxnSpPr>
        <p:spPr>
          <a:xfrm>
            <a:off x="2743200" y="3734220"/>
            <a:ext cx="1883301" cy="0"/>
          </a:xfrm>
          <a:prstGeom prst="line">
            <a:avLst/>
          </a:prstGeom>
          <a:ln w="1270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오른쪽 화살표 49"/>
          <p:cNvSpPr/>
          <p:nvPr/>
        </p:nvSpPr>
        <p:spPr>
          <a:xfrm>
            <a:off x="2325477" y="2098890"/>
            <a:ext cx="254337" cy="35122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1009528" y="1256649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latin typeface="+mj-ea"/>
                <a:cs typeface="Times New Roman" panose="02020603050405020304" pitchFamily="18" charset="0"/>
              </a:rPr>
              <a:t>단순 형상으로 변형</a:t>
            </a:r>
            <a:endParaRPr lang="ko-KR" altLang="en-US" sz="1200" b="1" dirty="0"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1459407" y="2180026"/>
            <a:ext cx="429949" cy="4299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/>
          <p:cNvSpPr/>
          <p:nvPr/>
        </p:nvSpPr>
        <p:spPr>
          <a:xfrm>
            <a:off x="1311621" y="1742802"/>
            <a:ext cx="155229" cy="1552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화살표 연결선 54"/>
          <p:cNvCxnSpPr>
            <a:stCxn id="54" idx="6"/>
          </p:cNvCxnSpPr>
          <p:nvPr/>
        </p:nvCxnSpPr>
        <p:spPr>
          <a:xfrm>
            <a:off x="1466850" y="1820417"/>
            <a:ext cx="605830" cy="564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/>
          <p:cNvCxnSpPr/>
          <p:nvPr/>
        </p:nvCxnSpPr>
        <p:spPr>
          <a:xfrm flipV="1">
            <a:off x="1821414" y="1976149"/>
            <a:ext cx="251266" cy="2863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059908" y="1747748"/>
            <a:ext cx="822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j-ea"/>
                <a:cs typeface="Times New Roman" panose="02020603050405020304" pitchFamily="18" charset="0"/>
              </a:rPr>
              <a:t>제거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8984" y="1665469"/>
            <a:ext cx="367240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+mj-ea"/>
                <a:cs typeface="Times New Roman" panose="02020603050405020304" pitchFamily="18" charset="0"/>
              </a:rPr>
              <a:t>Volume </a:t>
            </a:r>
            <a:r>
              <a:rPr lang="ko-KR" altLang="en-US" sz="1400" b="1">
                <a:latin typeface="+mj-ea"/>
                <a:cs typeface="Times New Roman" panose="02020603050405020304" pitchFamily="18" charset="0"/>
              </a:rPr>
              <a:t>계산 시에만 사용 </a:t>
            </a:r>
            <a:endParaRPr lang="en-US" altLang="ko-KR" sz="1400" b="1" dirty="0">
              <a:latin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047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F021-D7A2-651A-2AE1-91DAC880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5787CB5-C764-8F11-0EB6-C57110B2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5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B974012-400A-01F5-C252-26C96453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추가된 제약조건</a:t>
            </a:r>
            <a:endParaRPr lang="ko-KR" alt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84AD384-CFBA-3A75-0243-37E4FDDC9C7C}"/>
              </a:ext>
            </a:extLst>
          </p:cNvPr>
          <p:cNvSpPr txBox="1"/>
          <p:nvPr/>
        </p:nvSpPr>
        <p:spPr>
          <a:xfrm>
            <a:off x="288032" y="836712"/>
            <a:ext cx="9417496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u="sng">
                <a:latin typeface="+mj-ea"/>
                <a:cs typeface="Times New Roman" panose="02020603050405020304" pitchFamily="18" charset="0"/>
              </a:rPr>
              <a:t>Roller </a:t>
            </a:r>
            <a:r>
              <a:rPr lang="ko-KR" altLang="en-US" sz="1400" b="1" u="sng">
                <a:latin typeface="+mj-ea"/>
                <a:cs typeface="Times New Roman" panose="02020603050405020304" pitchFamily="18" charset="0"/>
              </a:rPr>
              <a:t>최대 길이</a:t>
            </a:r>
            <a:endParaRPr lang="en-US" altLang="ko-KR" sz="1400" b="1" u="sng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dirty="0"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664899" y="1500444"/>
            <a:ext cx="1252688" cy="232476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50594" y="1492215"/>
            <a:ext cx="1292634" cy="1194065"/>
            <a:chOff x="2553168" y="1645920"/>
            <a:chExt cx="1292634" cy="1194065"/>
          </a:xfrm>
        </p:grpSpPr>
        <p:cxnSp>
          <p:nvCxnSpPr>
            <p:cNvPr id="21" name="직선 연결선 20"/>
            <p:cNvCxnSpPr>
              <a:cxnSpLocks/>
            </p:cNvCxnSpPr>
            <p:nvPr/>
          </p:nvCxnSpPr>
          <p:spPr>
            <a:xfrm flipV="1">
              <a:off x="2632075" y="1972880"/>
              <a:ext cx="1213727" cy="491159"/>
            </a:xfrm>
            <a:prstGeom prst="line">
              <a:avLst/>
            </a:prstGeom>
            <a:ln w="762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그룹 12"/>
            <p:cNvGrpSpPr/>
            <p:nvPr/>
          </p:nvGrpSpPr>
          <p:grpSpPr>
            <a:xfrm>
              <a:off x="2553168" y="1645920"/>
              <a:ext cx="1274144" cy="1194065"/>
              <a:chOff x="2553168" y="1645920"/>
              <a:chExt cx="1274144" cy="1194065"/>
            </a:xfrm>
          </p:grpSpPr>
          <p:grpSp>
            <p:nvGrpSpPr>
              <p:cNvPr id="11" name="그룹 10"/>
              <p:cNvGrpSpPr/>
              <p:nvPr/>
            </p:nvGrpSpPr>
            <p:grpSpPr>
              <a:xfrm>
                <a:off x="2553168" y="1645920"/>
                <a:ext cx="1274144" cy="1194065"/>
                <a:chOff x="2482048" y="1686560"/>
                <a:chExt cx="1274144" cy="1194065"/>
              </a:xfrm>
            </p:grpSpPr>
            <p:pic>
              <p:nvPicPr>
                <p:cNvPr id="8" name="그림 7"/>
                <p:cNvPicPr>
                  <a:picLocks noChangeAspect="1"/>
                </p:cNvPicPr>
                <p:nvPr/>
              </p:nvPicPr>
              <p:blipFill rotWithShape="1">
                <a:blip r:embed="rId2"/>
                <a:srcRect t="53029"/>
                <a:stretch/>
              </p:blipFill>
              <p:spPr>
                <a:xfrm>
                  <a:off x="2482048" y="1686560"/>
                  <a:ext cx="908383" cy="549815"/>
                </a:xfrm>
                <a:prstGeom prst="rect">
                  <a:avLst/>
                </a:prstGeom>
              </p:spPr>
            </p:pic>
            <p:sp>
              <p:nvSpPr>
                <p:cNvPr id="4" name="직사각형 3"/>
                <p:cNvSpPr/>
                <p:nvPr/>
              </p:nvSpPr>
              <p:spPr>
                <a:xfrm>
                  <a:off x="2489200" y="1686560"/>
                  <a:ext cx="1259840" cy="1194065"/>
                </a:xfrm>
                <a:prstGeom prst="rect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10" name="그림 9"/>
                <p:cNvPicPr>
                  <a:picLocks noChangeAspect="1"/>
                </p:cNvPicPr>
                <p:nvPr/>
              </p:nvPicPr>
              <p:blipFill rotWithShape="1">
                <a:blip r:embed="rId3"/>
                <a:srcRect b="57999"/>
                <a:stretch/>
              </p:blipFill>
              <p:spPr>
                <a:xfrm>
                  <a:off x="2646624" y="2388996"/>
                  <a:ext cx="1109568" cy="491629"/>
                </a:xfrm>
                <a:prstGeom prst="rect">
                  <a:avLst/>
                </a:prstGeom>
              </p:spPr>
            </p:pic>
          </p:grpSp>
          <p:sp>
            <p:nvSpPr>
              <p:cNvPr id="12" name="사다리꼴 11"/>
              <p:cNvSpPr/>
              <p:nvPr/>
            </p:nvSpPr>
            <p:spPr>
              <a:xfrm rot="14986594">
                <a:off x="2955312" y="1743324"/>
                <a:ext cx="583609" cy="982198"/>
              </a:xfrm>
              <a:prstGeom prst="trapezoid">
                <a:avLst>
                  <a:gd name="adj" fmla="val 2715"/>
                </a:avLst>
              </a:prstGeom>
              <a:gradFill flip="none" rotWithShape="1">
                <a:gsLst>
                  <a:gs pos="0">
                    <a:schemeClr val="accent4">
                      <a:lumMod val="5000"/>
                      <a:lumOff val="95000"/>
                    </a:schemeClr>
                  </a:gs>
                  <a:gs pos="74000">
                    <a:schemeClr val="accent4">
                      <a:lumMod val="45000"/>
                      <a:lumOff val="55000"/>
                    </a:schemeClr>
                  </a:gs>
                  <a:gs pos="83000">
                    <a:schemeClr val="accent4">
                      <a:lumMod val="45000"/>
                      <a:lumOff val="55000"/>
                    </a:schemeClr>
                  </a:gs>
                  <a:gs pos="100000">
                    <a:schemeClr val="accent4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A6329B8-1DB2-15A3-C6F9-B4E5D4537EB0}"/>
              </a:ext>
            </a:extLst>
          </p:cNvPr>
          <p:cNvSpPr/>
          <p:nvPr/>
        </p:nvSpPr>
        <p:spPr>
          <a:xfrm>
            <a:off x="2040556" y="1376413"/>
            <a:ext cx="231006" cy="22138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39C5A0-74D3-C823-F2EF-668A6688C535}"/>
              </a:ext>
            </a:extLst>
          </p:cNvPr>
          <p:cNvSpPr/>
          <p:nvPr/>
        </p:nvSpPr>
        <p:spPr>
          <a:xfrm>
            <a:off x="1482290" y="1549668"/>
            <a:ext cx="279133" cy="2695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6709F2-D459-E906-EFAD-BF8F1B741605}"/>
              </a:ext>
            </a:extLst>
          </p:cNvPr>
          <p:cNvSpPr txBox="1"/>
          <p:nvPr/>
        </p:nvSpPr>
        <p:spPr>
          <a:xfrm>
            <a:off x="370867" y="6055158"/>
            <a:ext cx="9145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200" b="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Tiwari, R., Sunil, K. K., &amp; Reddy, R. S. (2012). An optimal design methodology of tapered roller bearings using genetic algorithms. </a:t>
            </a:r>
            <a:r>
              <a:rPr lang="ko-KR" altLang="ko-KR" sz="1200" b="0" i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Computational Methods in Engineering Science and Mechanics</a:t>
            </a:r>
            <a:r>
              <a:rPr lang="ko-KR" altLang="ko-KR" sz="1200" b="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ko-KR" altLang="ko-KR" sz="1200" b="0" i="1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ko-KR" altLang="ko-KR" sz="1200" b="0" i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(2), 108-127.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FC33DF5-7AE1-A8DA-AA82-CA284E936E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2707"/>
          <a:stretch>
            <a:fillRect/>
          </a:stretch>
        </p:blipFill>
        <p:spPr>
          <a:xfrm>
            <a:off x="3440832" y="4202849"/>
            <a:ext cx="6376960" cy="1818439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FE6181D3-5B52-DFDB-1CA7-D9D3D56E9A9F}"/>
              </a:ext>
            </a:extLst>
          </p:cNvPr>
          <p:cNvGrpSpPr/>
          <p:nvPr/>
        </p:nvGrpSpPr>
        <p:grpSpPr>
          <a:xfrm>
            <a:off x="2319665" y="1252785"/>
            <a:ext cx="4706158" cy="2636043"/>
            <a:chOff x="2319665" y="1618544"/>
            <a:chExt cx="4706158" cy="263604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606A20-D30E-35C7-26C4-B37E9815E6F6}"/>
                </a:ext>
              </a:extLst>
            </p:cNvPr>
            <p:cNvSpPr txBox="1"/>
            <p:nvPr/>
          </p:nvSpPr>
          <p:spPr>
            <a:xfrm>
              <a:off x="2319665" y="1618544"/>
              <a:ext cx="4706158" cy="2636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>
                  <a:latin typeface="+mj-ea"/>
                  <a:cs typeface="Times New Roman" panose="02020603050405020304" pitchFamily="18" charset="0"/>
                </a:rPr>
                <a:t>roller </a:t>
              </a:r>
              <a:r>
                <a:rPr lang="ko-KR" altLang="en-US" sz="1400">
                  <a:latin typeface="+mj-ea"/>
                  <a:cs typeface="Times New Roman" panose="02020603050405020304" pitchFamily="18" charset="0"/>
                </a:rPr>
                <a:t>끝이 튀어나오는 경우 발생 </a:t>
              </a:r>
              <a:endParaRPr lang="en-US" altLang="ko-KR" sz="1400">
                <a:latin typeface="+mj-ea"/>
                <a:cs typeface="Times New Roman" panose="02020603050405020304" pitchFamily="18" charset="0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à"/>
              </a:pPr>
              <a:r>
                <a:rPr lang="ko-KR" altLang="en-US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문헌 참고해 제약 조건 추가</a:t>
              </a:r>
              <a:endParaRPr lang="en-US" altLang="ko-KR" sz="1400">
                <a:latin typeface="+mj-ea"/>
                <a:cs typeface="Times New Roman" panose="02020603050405020304" pitchFamily="18" charset="0"/>
                <a:sym typeface="Wingdings" panose="05000000000000000000" pitchFamily="2" charset="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à"/>
              </a:pPr>
              <a:endParaRPr lang="en-US" altLang="ko-KR" sz="1400">
                <a:latin typeface="+mj-ea"/>
                <a:cs typeface="Times New Roman" panose="02020603050405020304" pitchFamily="18" charset="0"/>
                <a:sym typeface="Wingdings" panose="05000000000000000000" pitchFamily="2" charset="2"/>
              </a:endParaRPr>
            </a:p>
            <a:p>
              <a:pPr marL="285750" indent="-285750">
                <a:lnSpc>
                  <a:spcPct val="150000"/>
                </a:lnSpc>
                <a:buFont typeface="Wingdings" panose="05000000000000000000" pitchFamily="2" charset="2"/>
                <a:buChar char="à"/>
              </a:pPr>
              <a:endParaRPr lang="en-US" altLang="ko-KR" sz="1400">
                <a:latin typeface="+mj-ea"/>
                <a:cs typeface="Times New Roman" panose="02020603050405020304" pitchFamily="18" charset="0"/>
                <a:sym typeface="Wingdings" panose="05000000000000000000" pitchFamily="2" charset="2"/>
              </a:endParaRP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r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1</a:t>
              </a:r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, </a:t>
              </a: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r</a:t>
              </a:r>
              <a:r>
                <a:rPr lang="en-US" altLang="ko-KR" sz="1400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3</a:t>
              </a:r>
              <a:r>
                <a:rPr lang="en-US" altLang="ko-KR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: </a:t>
              </a:r>
              <a:r>
                <a:rPr lang="ko-KR" altLang="en-US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외륜쪽 </a:t>
              </a:r>
              <a:r>
                <a:rPr lang="en-US" altLang="ko-KR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fillet </a:t>
              </a:r>
              <a:r>
                <a:rPr lang="ko-KR" altLang="en-US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부분 반지름 </a:t>
              </a:r>
              <a:r>
                <a:rPr lang="en-US" altLang="ko-KR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(</a:t>
              </a:r>
              <a:r>
                <a:rPr lang="en-US" altLang="ko-KR" sz="140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5mm fixed</a:t>
              </a:r>
              <a:r>
                <a:rPr lang="en-US" altLang="ko-KR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C</a:t>
              </a:r>
              <a:r>
                <a:rPr lang="en-US" altLang="ko-KR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:</a:t>
              </a:r>
              <a:r>
                <a:rPr lang="ko-KR" altLang="en-US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 </a:t>
              </a:r>
              <a:r>
                <a:rPr lang="en-US" altLang="ko-KR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outer ring width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L</a:t>
              </a:r>
              <a:r>
                <a:rPr lang="en-US" altLang="ko-KR" sz="1400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w</a:t>
              </a:r>
              <a:r>
                <a:rPr lang="en-US" altLang="ko-KR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: Loller length</a:t>
              </a:r>
            </a:p>
            <a:p>
              <a:pPr marL="285750" indent="-285750">
                <a:lnSpc>
                  <a:spcPct val="150000"/>
                </a:lnSpc>
                <a:buFontTx/>
                <a:buChar char="-"/>
              </a:pPr>
              <a:r>
                <a:rPr lang="en-US" altLang="ko-KR" sz="1400" i="1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α</a:t>
              </a:r>
              <a:r>
                <a:rPr lang="en-US" altLang="ko-KR" sz="1400" i="1" baseline="-2500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rPr>
                <a:t>e</a:t>
              </a:r>
              <a:r>
                <a:rPr lang="en-US" altLang="ko-KR" sz="1400">
                  <a:latin typeface="+mj-ea"/>
                  <a:cs typeface="Times New Roman" panose="02020603050405020304" pitchFamily="18" charset="0"/>
                  <a:sym typeface="Wingdings" panose="05000000000000000000" pitchFamily="2" charset="2"/>
                </a:rPr>
                <a:t>: outer race contact angle</a:t>
              </a:r>
              <a:endParaRPr lang="ko-KR" altLang="en-US" sz="1400" dirty="0">
                <a:latin typeface="+mj-ea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7" name="개체 16">
              <a:extLst>
                <a:ext uri="{FF2B5EF4-FFF2-40B4-BE49-F238E27FC236}">
                  <a16:creationId xmlns:a16="http://schemas.microsoft.com/office/drawing/2014/main" id="{323BB11F-1E58-F4F3-4A52-A5A88D1CF3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686008"/>
                </p:ext>
              </p:extLst>
            </p:nvPr>
          </p:nvGraphicFramePr>
          <p:xfrm>
            <a:off x="2673350" y="2330450"/>
            <a:ext cx="2725738" cy="303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714320" imgH="190440" progId="Equation.DSMT4">
                    <p:embed/>
                  </p:oleObj>
                </mc:Choice>
                <mc:Fallback>
                  <p:oleObj name="Equation" r:id="rId5" imgW="1714320" imgH="190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73350" y="2330450"/>
                          <a:ext cx="2725738" cy="3032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" name="그림 18"/>
          <p:cNvPicPr>
            <a:picLocks noChangeAspect="1"/>
          </p:cNvPicPr>
          <p:nvPr/>
        </p:nvPicPr>
        <p:blipFill>
          <a:blip r:embed="rId7"/>
          <a:srcRect r="22444"/>
          <a:stretch>
            <a:fillRect/>
          </a:stretch>
        </p:blipFill>
        <p:spPr>
          <a:xfrm>
            <a:off x="6710479" y="1160436"/>
            <a:ext cx="1357307" cy="2332082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8"/>
          <a:srcRect r="12401"/>
          <a:stretch>
            <a:fillRect/>
          </a:stretch>
        </p:blipFill>
        <p:spPr>
          <a:xfrm>
            <a:off x="7950108" y="1148054"/>
            <a:ext cx="1684933" cy="235684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48430B9-A5D7-712C-B1F6-7320BDBC9F83}"/>
              </a:ext>
            </a:extLst>
          </p:cNvPr>
          <p:cNvSpPr txBox="1"/>
          <p:nvPr/>
        </p:nvSpPr>
        <p:spPr>
          <a:xfrm>
            <a:off x="6860167" y="3492518"/>
            <a:ext cx="2820455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u="sng">
                <a:latin typeface="+mj-ea"/>
                <a:cs typeface="Times New Roman" panose="02020603050405020304" pitchFamily="18" charset="0"/>
              </a:rPr>
              <a:t>실제 결과 예시</a:t>
            </a:r>
            <a:endParaRPr lang="en-US" altLang="ko-KR" sz="1400" u="sng">
              <a:latin typeface="+mj-ea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>
                <a:latin typeface="+mj-ea"/>
                <a:cs typeface="Times New Roman" panose="02020603050405020304" pitchFamily="18" charset="0"/>
              </a:rPr>
              <a:t>roller</a:t>
            </a:r>
            <a:r>
              <a:rPr lang="ko-KR" altLang="en-US" sz="1400">
                <a:latin typeface="+mj-ea"/>
                <a:cs typeface="Times New Roman" panose="02020603050405020304" pitchFamily="18" charset="0"/>
              </a:rPr>
              <a:t> 끝이 튀어나온 경우</a:t>
            </a:r>
            <a:endParaRPr lang="ko-KR" altLang="en-US" sz="1400" dirty="0">
              <a:latin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719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6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최적설계 결과 </a:t>
            </a:r>
            <a:r>
              <a:rPr lang="en-US" altLang="ko-KR" dirty="0"/>
              <a:t>– Load Case B</a:t>
            </a:r>
            <a:endParaRPr lang="ko-KR" alt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288032" y="836712"/>
            <a:ext cx="9417496" cy="697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u="sng">
                <a:latin typeface="+mj-ea"/>
                <a:cs typeface="Times New Roman" panose="02020603050405020304" pitchFamily="18" charset="0"/>
              </a:rPr>
              <a:t>Load</a:t>
            </a:r>
            <a:r>
              <a:rPr lang="ko-KR" altLang="en-US" sz="1400" b="1" u="sng">
                <a:latin typeface="+mj-ea"/>
                <a:cs typeface="Times New Roman" panose="02020603050405020304" pitchFamily="18" charset="0"/>
              </a:rPr>
              <a:t> </a:t>
            </a:r>
            <a:r>
              <a:rPr lang="en-US" altLang="ko-KR" sz="1400" b="1" u="sng">
                <a:latin typeface="+mj-ea"/>
                <a:cs typeface="Times New Roman" panose="02020603050405020304" pitchFamily="18" charset="0"/>
              </a:rPr>
              <a:t>Case </a:t>
            </a:r>
            <a:r>
              <a:rPr lang="en-US" altLang="ko-KR" sz="1400" b="1" u="sng" dirty="0">
                <a:latin typeface="+mj-ea"/>
                <a:cs typeface="Times New Roman" panose="02020603050405020304" pitchFamily="18" charset="0"/>
              </a:rPr>
              <a:t>B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 err="1">
                <a:latin typeface="+mj-ea"/>
                <a:cs typeface="Times New Roman" panose="02020603050405020304" pitchFamily="18" charset="0"/>
              </a:rPr>
              <a:t>Fx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= 0 [N], </a:t>
            </a:r>
            <a:r>
              <a:rPr lang="en-US" altLang="ko-KR" sz="1400" dirty="0" err="1">
                <a:latin typeface="+mj-ea"/>
                <a:cs typeface="Times New Roman" panose="02020603050405020304" pitchFamily="18" charset="0"/>
              </a:rPr>
              <a:t>Fy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= 1.3x10</a:t>
            </a:r>
            <a:r>
              <a:rPr lang="en-US" altLang="ko-KR" sz="1400" baseline="30000" dirty="0">
                <a:latin typeface="+mj-ea"/>
                <a:cs typeface="Times New Roman" panose="02020603050405020304" pitchFamily="18" charset="0"/>
              </a:rPr>
              <a:t>6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[N], </a:t>
            </a:r>
            <a:r>
              <a:rPr lang="en-US" altLang="ko-KR" sz="1400" dirty="0" err="1">
                <a:latin typeface="+mj-ea"/>
                <a:cs typeface="Times New Roman" panose="02020603050405020304" pitchFamily="18" charset="0"/>
              </a:rPr>
              <a:t>Fz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= 5x10</a:t>
            </a:r>
            <a:r>
              <a:rPr lang="en-US" altLang="ko-KR" sz="1400" baseline="30000" dirty="0">
                <a:latin typeface="+mj-ea"/>
                <a:cs typeface="Times New Roman" panose="02020603050405020304" pitchFamily="18" charset="0"/>
              </a:rPr>
              <a:t>5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[N], My = 1x10</a:t>
            </a:r>
            <a:r>
              <a:rPr lang="en-US" altLang="ko-KR" sz="1400" baseline="30000" dirty="0">
                <a:latin typeface="+mj-ea"/>
                <a:cs typeface="Times New Roman" panose="02020603050405020304" pitchFamily="18" charset="0"/>
              </a:rPr>
              <a:t>8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[</a:t>
            </a:r>
            <a:r>
              <a:rPr lang="en-US" altLang="ko-KR" sz="1400" dirty="0" err="1">
                <a:latin typeface="+mj-ea"/>
                <a:cs typeface="Times New Roman" panose="02020603050405020304" pitchFamily="18" charset="0"/>
              </a:rPr>
              <a:t>Nmm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], </a:t>
            </a:r>
            <a:r>
              <a:rPr lang="en-US" altLang="ko-KR" sz="1400" dirty="0" err="1">
                <a:latin typeface="+mj-ea"/>
                <a:cs typeface="Times New Roman" panose="02020603050405020304" pitchFamily="18" charset="0"/>
              </a:rPr>
              <a:t>Mz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= 2.5x10</a:t>
            </a:r>
            <a:r>
              <a:rPr lang="en-US" altLang="ko-KR" sz="1400" baseline="30000" dirty="0">
                <a:latin typeface="+mj-ea"/>
                <a:cs typeface="Times New Roman" panose="02020603050405020304" pitchFamily="18" charset="0"/>
              </a:rPr>
              <a:t>8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 [</a:t>
            </a:r>
            <a:r>
              <a:rPr lang="en-US" altLang="ko-KR" sz="1400" dirty="0" err="1">
                <a:latin typeface="+mj-ea"/>
                <a:cs typeface="Times New Roman" panose="02020603050405020304" pitchFamily="18" charset="0"/>
              </a:rPr>
              <a:t>Nmm</a:t>
            </a:r>
            <a:r>
              <a:rPr lang="en-US" altLang="ko-KR" sz="1400" dirty="0">
                <a:latin typeface="+mj-ea"/>
                <a:cs typeface="Times New Roman" panose="02020603050405020304" pitchFamily="18" charset="0"/>
              </a:rPr>
              <a:t>]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300529"/>
              </p:ext>
            </p:extLst>
          </p:nvPr>
        </p:nvGraphicFramePr>
        <p:xfrm>
          <a:off x="848544" y="1633675"/>
          <a:ext cx="795303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436">
                  <a:extLst>
                    <a:ext uri="{9D8B030D-6E8A-4147-A177-3AD203B41FA5}">
                      <a16:colId xmlns:a16="http://schemas.microsoft.com/office/drawing/2014/main" val="3126690432"/>
                    </a:ext>
                  </a:extLst>
                </a:gridCol>
                <a:gridCol w="947094">
                  <a:extLst>
                    <a:ext uri="{9D8B030D-6E8A-4147-A177-3AD203B41FA5}">
                      <a16:colId xmlns:a16="http://schemas.microsoft.com/office/drawing/2014/main" val="2896033882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3760741306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1746865437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2565444191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712269040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449930670"/>
                    </a:ext>
                  </a:extLst>
                </a:gridCol>
              </a:tblGrid>
              <a:tr h="2408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lb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(Case 1)</a:t>
                      </a:r>
                      <a:endParaRPr lang="ko-KR" altLang="en-US" sz="120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(Case 2)</a:t>
                      </a:r>
                      <a:endParaRPr lang="ko-KR" altLang="en-US" sz="1200" i="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(Case 3)</a:t>
                      </a:r>
                      <a:endParaRPr lang="ko-KR" altLang="en-US" sz="1200" i="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(Case 4)</a:t>
                      </a:r>
                      <a:endParaRPr lang="ko-KR" altLang="en-US" sz="1200" i="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400678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roller diameter, </a:t>
                      </a: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ko-KR" sz="12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81.1551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55.6285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70.3651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72.5944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610123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Roller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contact length, </a:t>
                      </a:r>
                      <a:r>
                        <a:rPr lang="en-US" altLang="ko-KR" sz="1200" i="1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157.093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144.191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839896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angle (outer), </a:t>
                      </a:r>
                      <a:r>
                        <a:rPr lang="el-GR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altLang="ko-KR" sz="12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0.523599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0.255328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641265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angle (inner), </a:t>
                      </a:r>
                      <a:r>
                        <a:rPr lang="el-GR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0.523599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0.229657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640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Bore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diameter, </a:t>
                      </a:r>
                      <a:r>
                        <a:rPr lang="en-US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1110.67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816.069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521126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diameter, </a:t>
                      </a: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1413.99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999013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Flange angle,</a:t>
                      </a: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l-GR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altLang="ko-KR" sz="12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0.785398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1.5708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1.36182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1.48748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1.5708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1.5708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003277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Roller profile coefficient, </a:t>
                      </a:r>
                      <a:r>
                        <a:rPr lang="en-US" altLang="ko-KR" sz="1200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0.0005716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0.00062966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0.00045049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0.00028278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708900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rollers,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684431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68B284F3-7E3E-49F1-E47A-883A4B683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799420"/>
              </p:ext>
            </p:extLst>
          </p:nvPr>
        </p:nvGraphicFramePr>
        <p:xfrm>
          <a:off x="848544" y="4605895"/>
          <a:ext cx="795303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436">
                  <a:extLst>
                    <a:ext uri="{9D8B030D-6E8A-4147-A177-3AD203B41FA5}">
                      <a16:colId xmlns:a16="http://schemas.microsoft.com/office/drawing/2014/main" val="3126690432"/>
                    </a:ext>
                  </a:extLst>
                </a:gridCol>
                <a:gridCol w="947094">
                  <a:extLst>
                    <a:ext uri="{9D8B030D-6E8A-4147-A177-3AD203B41FA5}">
                      <a16:colId xmlns:a16="http://schemas.microsoft.com/office/drawing/2014/main" val="2896033882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3760741306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1746865437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2565444191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712269040"/>
                    </a:ext>
                  </a:extLst>
                </a:gridCol>
                <a:gridCol w="968900">
                  <a:extLst>
                    <a:ext uri="{9D8B030D-6E8A-4147-A177-3AD203B41FA5}">
                      <a16:colId xmlns:a16="http://schemas.microsoft.com/office/drawing/2014/main" val="449930670"/>
                    </a:ext>
                  </a:extLst>
                </a:gridCol>
              </a:tblGrid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 (×10</a:t>
                      </a:r>
                      <a:r>
                        <a:rPr lang="en-US" altLang="ko-KR" sz="1200" b="0" i="0" baseline="30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mm</a:t>
                      </a:r>
                      <a:r>
                        <a:rPr lang="en-US" altLang="ko-KR" sz="1200" b="0" i="0" baseline="30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200" b="0" i="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7.90996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7.94829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8.53813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10.0899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610123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Fatigue life (years)</a:t>
                      </a:r>
                      <a:endParaRPr lang="ko-KR" altLang="en-US" sz="1200" i="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39896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film thickness (</a:t>
                      </a:r>
                      <a:r>
                        <a:rPr lang="el-GR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m)</a:t>
                      </a:r>
                      <a:endParaRPr lang="ko-KR" altLang="en-US" sz="120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0.443625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4126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9302744-3BE1-0842-4756-5B1831FEF241}"/>
              </a:ext>
            </a:extLst>
          </p:cNvPr>
          <p:cNvSpPr txBox="1"/>
          <p:nvPr/>
        </p:nvSpPr>
        <p:spPr>
          <a:xfrm>
            <a:off x="279400" y="4509368"/>
            <a:ext cx="704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u="sng">
                <a:solidFill>
                  <a:srgbClr val="00B050"/>
                </a:solidFill>
                <a:latin typeface="+mj-ea"/>
                <a:cs typeface="Times New Roman" panose="02020603050405020304" pitchFamily="18" charset="0"/>
              </a:rPr>
              <a:t>성능</a:t>
            </a:r>
            <a:endParaRPr lang="ko-KR" altLang="en-US" sz="1400" b="1" u="sng" dirty="0">
              <a:solidFill>
                <a:srgbClr val="00B050"/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68206A67-9234-1B28-FECA-07C23DA56E09}"/>
              </a:ext>
            </a:extLst>
          </p:cNvPr>
          <p:cNvSpPr/>
          <p:nvPr/>
        </p:nvSpPr>
        <p:spPr>
          <a:xfrm>
            <a:off x="774700" y="5702300"/>
            <a:ext cx="317500" cy="330200"/>
          </a:xfrm>
          <a:prstGeom prst="right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087E80-887D-3F19-E46B-D67A1D6CFC48}"/>
              </a:ext>
            </a:extLst>
          </p:cNvPr>
          <p:cNvSpPr txBox="1"/>
          <p:nvPr/>
        </p:nvSpPr>
        <p:spPr>
          <a:xfrm>
            <a:off x="1195884" y="5661372"/>
            <a:ext cx="6768752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+mj-ea"/>
                <a:cs typeface="Times New Roman" panose="02020603050405020304" pitchFamily="18" charset="0"/>
              </a:rPr>
              <a:t>형상은 </a:t>
            </a:r>
            <a:r>
              <a:rPr lang="en-US" altLang="ko-KR" sz="1400">
                <a:latin typeface="+mj-ea"/>
                <a:cs typeface="Times New Roman" panose="02020603050405020304" pitchFamily="18" charset="0"/>
              </a:rPr>
              <a:t>6/29 MASTA </a:t>
            </a:r>
            <a:r>
              <a:rPr lang="ko-KR" altLang="en-US" sz="1400">
                <a:latin typeface="+mj-ea"/>
                <a:cs typeface="Times New Roman" panose="02020603050405020304" pitchFamily="18" charset="0"/>
              </a:rPr>
              <a:t>활용 확인 예정</a:t>
            </a:r>
            <a:endParaRPr lang="ko-KR" altLang="en-US" sz="1400" dirty="0"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3C3E25-39BE-99AB-28DD-BFF6534787EE}"/>
              </a:ext>
            </a:extLst>
          </p:cNvPr>
          <p:cNvSpPr/>
          <p:nvPr/>
        </p:nvSpPr>
        <p:spPr>
          <a:xfrm>
            <a:off x="6681192" y="0"/>
            <a:ext cx="3212108" cy="11557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chemeClr val="tx1"/>
                </a:solidFill>
              </a:rPr>
              <a:t>Case</a:t>
            </a:r>
            <a:r>
              <a:rPr lang="ko-KR" altLang="en-US" sz="1400">
                <a:solidFill>
                  <a:schemeClr val="tx1"/>
                </a:solidFill>
              </a:rPr>
              <a:t> 별 제약조건</a:t>
            </a:r>
            <a:r>
              <a:rPr lang="en-US" altLang="ko-KR" sz="1400">
                <a:solidFill>
                  <a:schemeClr val="tx1"/>
                </a:solidFill>
              </a:rPr>
              <a:t> (</a:t>
            </a:r>
            <a:r>
              <a:rPr lang="ko-KR" altLang="en-US" sz="1400">
                <a:solidFill>
                  <a:schemeClr val="tx1"/>
                </a:solidFill>
              </a:rPr>
              <a:t>해당 값 이상</a:t>
            </a:r>
            <a:r>
              <a:rPr lang="en-US" altLang="ko-KR" sz="1400">
                <a:solidFill>
                  <a:schemeClr val="tx1"/>
                </a:solidFill>
              </a:rPr>
              <a:t> </a:t>
            </a:r>
            <a:r>
              <a:rPr lang="ko-KR" altLang="en-US" sz="1400">
                <a:solidFill>
                  <a:schemeClr val="tx1"/>
                </a:solidFill>
              </a:rPr>
              <a:t>되게</a:t>
            </a:r>
            <a:r>
              <a:rPr lang="en-US" altLang="ko-KR" sz="140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1: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X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2: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0.4</a:t>
            </a:r>
            <a:r>
              <a:rPr lang="el-GR" altLang="ko-KR" sz="1400">
                <a:solidFill>
                  <a:schemeClr val="tx1"/>
                </a:solidFill>
              </a:rPr>
              <a:t>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3: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0.5</a:t>
            </a:r>
            <a:r>
              <a:rPr lang="el-GR" altLang="ko-KR" sz="1400">
                <a:solidFill>
                  <a:schemeClr val="tx1"/>
                </a:solidFill>
              </a:rPr>
              <a:t> 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4: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0.6</a:t>
            </a:r>
            <a:r>
              <a:rPr lang="el-GR" altLang="ko-KR" sz="1400">
                <a:solidFill>
                  <a:schemeClr val="tx1"/>
                </a:solidFill>
              </a:rPr>
              <a:t> 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152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0007B-58E3-ABCF-5811-BA3F1088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16D9690-79F1-E93F-1ED5-0D758942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7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F77D144-6CB1-EAE8-EFF2-AD1720561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최적설계 결과 </a:t>
            </a:r>
            <a:r>
              <a:rPr lang="en-US" altLang="ko-KR" sz="2400" dirty="0"/>
              <a:t>– Fatigue </a:t>
            </a:r>
            <a:r>
              <a:rPr lang="en-US" altLang="ko-KR" sz="2400"/>
              <a:t>Load Spectrum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3CBF797-397F-E15E-59F7-FFC63A847535}"/>
              </a:ext>
            </a:extLst>
          </p:cNvPr>
          <p:cNvSpPr txBox="1"/>
          <p:nvPr/>
        </p:nvSpPr>
        <p:spPr>
          <a:xfrm>
            <a:off x="288032" y="836712"/>
            <a:ext cx="9417496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u="sng">
                <a:latin typeface="+mj-ea"/>
                <a:cs typeface="Times New Roman" panose="02020603050405020304" pitchFamily="18" charset="0"/>
              </a:rPr>
              <a:t>Fatigue Load Spectrum Case</a:t>
            </a: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12" y="1408527"/>
            <a:ext cx="8419598" cy="323231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38E530C-5F4C-2B2F-B3EF-66FC76616C3C}"/>
              </a:ext>
            </a:extLst>
          </p:cNvPr>
          <p:cNvSpPr/>
          <p:nvPr/>
        </p:nvSpPr>
        <p:spPr>
          <a:xfrm>
            <a:off x="6681192" y="0"/>
            <a:ext cx="3212108" cy="11557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chemeClr val="tx1"/>
                </a:solidFill>
              </a:rPr>
              <a:t>Case</a:t>
            </a:r>
            <a:r>
              <a:rPr lang="ko-KR" altLang="en-US" sz="1400">
                <a:solidFill>
                  <a:schemeClr val="tx1"/>
                </a:solidFill>
              </a:rPr>
              <a:t> 별 제약조건</a:t>
            </a:r>
            <a:r>
              <a:rPr lang="en-US" altLang="ko-KR" sz="1400">
                <a:solidFill>
                  <a:schemeClr val="tx1"/>
                </a:solidFill>
              </a:rPr>
              <a:t> (</a:t>
            </a:r>
            <a:r>
              <a:rPr lang="ko-KR" altLang="en-US" sz="1400">
                <a:solidFill>
                  <a:schemeClr val="tx1"/>
                </a:solidFill>
              </a:rPr>
              <a:t>해당 값 이상</a:t>
            </a:r>
            <a:r>
              <a:rPr lang="en-US" altLang="ko-KR" sz="1400">
                <a:solidFill>
                  <a:schemeClr val="tx1"/>
                </a:solidFill>
              </a:rPr>
              <a:t> </a:t>
            </a:r>
            <a:r>
              <a:rPr lang="ko-KR" altLang="en-US" sz="1400">
                <a:solidFill>
                  <a:schemeClr val="tx1"/>
                </a:solidFill>
              </a:rPr>
              <a:t>되게</a:t>
            </a:r>
            <a:r>
              <a:rPr lang="en-US" altLang="ko-KR" sz="140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1: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X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2: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0.4</a:t>
            </a:r>
            <a:r>
              <a:rPr lang="el-GR" altLang="ko-KR" sz="1400">
                <a:solidFill>
                  <a:schemeClr val="tx1"/>
                </a:solidFill>
              </a:rPr>
              <a:t>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3: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0.5</a:t>
            </a:r>
            <a:r>
              <a:rPr lang="el-GR" altLang="ko-KR" sz="1400">
                <a:solidFill>
                  <a:schemeClr val="tx1"/>
                </a:solidFill>
              </a:rPr>
              <a:t> 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4: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0.6</a:t>
            </a:r>
            <a:r>
              <a:rPr lang="el-GR" altLang="ko-KR" sz="1400">
                <a:solidFill>
                  <a:schemeClr val="tx1"/>
                </a:solidFill>
              </a:rPr>
              <a:t> 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448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FAE4-A2DF-9225-9F34-B00A4AE9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108BDD6-0DF6-5908-37D2-C8A0BA8E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8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58B365D-41BD-6E78-5D19-6514AC60B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최적설계 결과 </a:t>
            </a:r>
            <a:r>
              <a:rPr lang="en-US" altLang="ko-KR" sz="2400" dirty="0"/>
              <a:t>– Fatigue </a:t>
            </a:r>
            <a:r>
              <a:rPr lang="en-US" altLang="ko-KR" sz="2400"/>
              <a:t>Load Spectrum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A18C6F0-15EA-3CD6-5AD3-EBB7EFF3D79D}"/>
              </a:ext>
            </a:extLst>
          </p:cNvPr>
          <p:cNvSpPr txBox="1"/>
          <p:nvPr/>
        </p:nvSpPr>
        <p:spPr>
          <a:xfrm>
            <a:off x="288032" y="836712"/>
            <a:ext cx="9417496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b="1" u="sng">
                <a:latin typeface="+mj-ea"/>
                <a:cs typeface="Times New Roman" panose="02020603050405020304" pitchFamily="18" charset="0"/>
              </a:rPr>
              <a:t>Fatigue Load Spectrum Case</a:t>
            </a: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400" b="1" u="sng" dirty="0"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6998789-9A63-02F6-490D-5EA8CEB1F59B}"/>
              </a:ext>
            </a:extLst>
          </p:cNvPr>
          <p:cNvSpPr/>
          <p:nvPr/>
        </p:nvSpPr>
        <p:spPr>
          <a:xfrm>
            <a:off x="6681192" y="0"/>
            <a:ext cx="3212108" cy="11557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chemeClr val="tx1"/>
                </a:solidFill>
              </a:rPr>
              <a:t>Case</a:t>
            </a:r>
            <a:r>
              <a:rPr lang="ko-KR" altLang="en-US" sz="1400">
                <a:solidFill>
                  <a:schemeClr val="tx1"/>
                </a:solidFill>
              </a:rPr>
              <a:t> 별 제약조건</a:t>
            </a:r>
            <a:r>
              <a:rPr lang="en-US" altLang="ko-KR" sz="1400">
                <a:solidFill>
                  <a:schemeClr val="tx1"/>
                </a:solidFill>
              </a:rPr>
              <a:t> (</a:t>
            </a:r>
            <a:r>
              <a:rPr lang="ko-KR" altLang="en-US" sz="1400">
                <a:solidFill>
                  <a:schemeClr val="tx1"/>
                </a:solidFill>
              </a:rPr>
              <a:t>해당 값 이상</a:t>
            </a:r>
            <a:r>
              <a:rPr lang="en-US" altLang="ko-KR" sz="1400">
                <a:solidFill>
                  <a:schemeClr val="tx1"/>
                </a:solidFill>
              </a:rPr>
              <a:t> </a:t>
            </a:r>
            <a:r>
              <a:rPr lang="ko-KR" altLang="en-US" sz="1400">
                <a:solidFill>
                  <a:schemeClr val="tx1"/>
                </a:solidFill>
              </a:rPr>
              <a:t>되게</a:t>
            </a:r>
            <a:r>
              <a:rPr lang="en-US" altLang="ko-KR" sz="140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1: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0.4</a:t>
            </a:r>
            <a:r>
              <a:rPr lang="el-GR" altLang="ko-KR" sz="1400">
                <a:solidFill>
                  <a:schemeClr val="tx1"/>
                </a:solidFill>
              </a:rPr>
              <a:t>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2: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0.5</a:t>
            </a:r>
            <a:r>
              <a:rPr lang="el-GR" altLang="ko-KR" sz="1400">
                <a:solidFill>
                  <a:schemeClr val="tx1"/>
                </a:solidFill>
              </a:rPr>
              <a:t> 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</a:p>
          <a:p>
            <a:r>
              <a:rPr lang="en-US" altLang="ko-KR" sz="1400">
                <a:solidFill>
                  <a:schemeClr val="tx1"/>
                </a:solidFill>
              </a:rPr>
              <a:t>Case 3: </a:t>
            </a:r>
            <a:r>
              <a:rPr lang="ko-KR" altLang="en-US" sz="1400">
                <a:solidFill>
                  <a:schemeClr val="tx1"/>
                </a:solidFill>
              </a:rPr>
              <a:t>피로수명 </a:t>
            </a:r>
            <a:r>
              <a:rPr lang="en-US" altLang="ko-KR" sz="1400">
                <a:solidFill>
                  <a:schemeClr val="tx1"/>
                </a:solidFill>
              </a:rPr>
              <a:t>20</a:t>
            </a:r>
            <a:r>
              <a:rPr lang="ko-KR" altLang="en-US" sz="1400">
                <a:solidFill>
                  <a:schemeClr val="tx1"/>
                </a:solidFill>
              </a:rPr>
              <a:t>년</a:t>
            </a:r>
            <a:r>
              <a:rPr lang="en-US" altLang="ko-KR" sz="1400">
                <a:solidFill>
                  <a:schemeClr val="tx1"/>
                </a:solidFill>
              </a:rPr>
              <a:t>, </a:t>
            </a:r>
            <a:r>
              <a:rPr lang="ko-KR" altLang="en-US" sz="1400">
                <a:solidFill>
                  <a:schemeClr val="tx1"/>
                </a:solidFill>
              </a:rPr>
              <a:t>윤활두께 </a:t>
            </a:r>
            <a:r>
              <a:rPr lang="en-US" altLang="ko-KR" sz="1400">
                <a:solidFill>
                  <a:schemeClr val="tx1"/>
                </a:solidFill>
              </a:rPr>
              <a:t>0.6</a:t>
            </a:r>
            <a:r>
              <a:rPr lang="el-GR" altLang="ko-KR" sz="1400">
                <a:solidFill>
                  <a:schemeClr val="tx1"/>
                </a:solidFill>
              </a:rPr>
              <a:t> μ</a:t>
            </a:r>
            <a:r>
              <a:rPr lang="en-US" altLang="ko-KR" sz="1400">
                <a:solidFill>
                  <a:schemeClr val="tx1"/>
                </a:solidFill>
              </a:rPr>
              <a:t>m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441622-1FDA-0ADB-EA15-0FFCE383B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580646"/>
              </p:ext>
            </p:extLst>
          </p:nvPr>
        </p:nvGraphicFramePr>
        <p:xfrm>
          <a:off x="848544" y="1379675"/>
          <a:ext cx="7990656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934">
                  <a:extLst>
                    <a:ext uri="{9D8B030D-6E8A-4147-A177-3AD203B41FA5}">
                      <a16:colId xmlns:a16="http://schemas.microsoft.com/office/drawing/2014/main" val="3126690432"/>
                    </a:ext>
                  </a:extLst>
                </a:gridCol>
                <a:gridCol w="1083586">
                  <a:extLst>
                    <a:ext uri="{9D8B030D-6E8A-4147-A177-3AD203B41FA5}">
                      <a16:colId xmlns:a16="http://schemas.microsoft.com/office/drawing/2014/main" val="2896033882"/>
                    </a:ext>
                  </a:extLst>
                </a:gridCol>
                <a:gridCol w="1108534">
                  <a:extLst>
                    <a:ext uri="{9D8B030D-6E8A-4147-A177-3AD203B41FA5}">
                      <a16:colId xmlns:a16="http://schemas.microsoft.com/office/drawing/2014/main" val="3760741306"/>
                    </a:ext>
                  </a:extLst>
                </a:gridCol>
                <a:gridCol w="1108534">
                  <a:extLst>
                    <a:ext uri="{9D8B030D-6E8A-4147-A177-3AD203B41FA5}">
                      <a16:colId xmlns:a16="http://schemas.microsoft.com/office/drawing/2014/main" val="1746865437"/>
                    </a:ext>
                  </a:extLst>
                </a:gridCol>
                <a:gridCol w="1108534">
                  <a:extLst>
                    <a:ext uri="{9D8B030D-6E8A-4147-A177-3AD203B41FA5}">
                      <a16:colId xmlns:a16="http://schemas.microsoft.com/office/drawing/2014/main" val="2565444191"/>
                    </a:ext>
                  </a:extLst>
                </a:gridCol>
                <a:gridCol w="1108534">
                  <a:extLst>
                    <a:ext uri="{9D8B030D-6E8A-4147-A177-3AD203B41FA5}">
                      <a16:colId xmlns:a16="http://schemas.microsoft.com/office/drawing/2014/main" val="712269040"/>
                    </a:ext>
                  </a:extLst>
                </a:gridCol>
              </a:tblGrid>
              <a:tr h="24083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lb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(Case 1)</a:t>
                      </a:r>
                      <a:endParaRPr lang="ko-KR" altLang="en-US" sz="120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(Case 2)</a:t>
                      </a:r>
                      <a:endParaRPr lang="ko-KR" altLang="en-US" sz="1200" i="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US" altLang="ko-KR" sz="1200" i="1" baseline="-25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(Case 3)</a:t>
                      </a:r>
                      <a:endParaRPr lang="ko-KR" altLang="en-US" sz="1200" i="0" baseline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400678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roller diameter, </a:t>
                      </a: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ko-KR" sz="12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59.1545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74.802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77.1053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610123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Roller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contact length, </a:t>
                      </a:r>
                      <a:r>
                        <a:rPr lang="en-US" altLang="ko-KR" sz="1200" i="1" baseline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144.191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839896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angle (outer), </a:t>
                      </a:r>
                      <a:r>
                        <a:rPr lang="el-GR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altLang="ko-KR" sz="12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0.523599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9641265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angle (inner), </a:t>
                      </a:r>
                      <a:r>
                        <a:rPr lang="el-GR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0.523599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0.174533</a:t>
                      </a:r>
                      <a:endParaRPr lang="ko-KR" altLang="en-US"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640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Bore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diameter, </a:t>
                      </a:r>
                      <a:r>
                        <a:rPr lang="en-US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802.652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521126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diameter, </a:t>
                      </a: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1393.17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4999013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Flange angle,</a:t>
                      </a:r>
                      <a:r>
                        <a:rPr lang="en-US" altLang="ko-KR" sz="120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l-GR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α</a:t>
                      </a:r>
                      <a:r>
                        <a:rPr lang="en-US" altLang="ko-KR" sz="120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0.785398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1.5708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1.48234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1.5708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1.5708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003277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Roller profile coefficient, </a:t>
                      </a:r>
                      <a:r>
                        <a:rPr lang="en-US" altLang="ko-KR" sz="1200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en-US" altLang="ko-KR" sz="120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lang="ko-KR" altLang="en-US" sz="120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0.00061306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0.000457761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0.00052610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708900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of rollers,</a:t>
                      </a:r>
                      <a:r>
                        <a:rPr lang="en-US" altLang="ko-KR" sz="120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i="1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</a:t>
                      </a:r>
                      <a:endParaRPr lang="ko-KR" altLang="en-US" sz="1200" i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68443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0534610-B717-5C7A-415C-C523533AB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594612"/>
              </p:ext>
            </p:extLst>
          </p:nvPr>
        </p:nvGraphicFramePr>
        <p:xfrm>
          <a:off x="848544" y="4351895"/>
          <a:ext cx="799065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934">
                  <a:extLst>
                    <a:ext uri="{9D8B030D-6E8A-4147-A177-3AD203B41FA5}">
                      <a16:colId xmlns:a16="http://schemas.microsoft.com/office/drawing/2014/main" val="3126690432"/>
                    </a:ext>
                  </a:extLst>
                </a:gridCol>
                <a:gridCol w="1083586">
                  <a:extLst>
                    <a:ext uri="{9D8B030D-6E8A-4147-A177-3AD203B41FA5}">
                      <a16:colId xmlns:a16="http://schemas.microsoft.com/office/drawing/2014/main" val="2896033882"/>
                    </a:ext>
                  </a:extLst>
                </a:gridCol>
                <a:gridCol w="1108534">
                  <a:extLst>
                    <a:ext uri="{9D8B030D-6E8A-4147-A177-3AD203B41FA5}">
                      <a16:colId xmlns:a16="http://schemas.microsoft.com/office/drawing/2014/main" val="3760741306"/>
                    </a:ext>
                  </a:extLst>
                </a:gridCol>
                <a:gridCol w="1108534">
                  <a:extLst>
                    <a:ext uri="{9D8B030D-6E8A-4147-A177-3AD203B41FA5}">
                      <a16:colId xmlns:a16="http://schemas.microsoft.com/office/drawing/2014/main" val="1746865437"/>
                    </a:ext>
                  </a:extLst>
                </a:gridCol>
                <a:gridCol w="1108534">
                  <a:extLst>
                    <a:ext uri="{9D8B030D-6E8A-4147-A177-3AD203B41FA5}">
                      <a16:colId xmlns:a16="http://schemas.microsoft.com/office/drawing/2014/main" val="2565444191"/>
                    </a:ext>
                  </a:extLst>
                </a:gridCol>
                <a:gridCol w="1108534">
                  <a:extLst>
                    <a:ext uri="{9D8B030D-6E8A-4147-A177-3AD203B41FA5}">
                      <a16:colId xmlns:a16="http://schemas.microsoft.com/office/drawing/2014/main" val="712269040"/>
                    </a:ext>
                  </a:extLst>
                </a:gridCol>
              </a:tblGrid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Volume (×10</a:t>
                      </a:r>
                      <a:r>
                        <a:rPr lang="en-US" altLang="ko-KR" sz="1200" b="0" i="0" baseline="30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mm</a:t>
                      </a:r>
                      <a:r>
                        <a:rPr lang="en-US" altLang="ko-KR" sz="1200" b="0" i="0" baseline="30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altLang="ko-KR" sz="1200" b="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ko-KR" altLang="en-US" sz="1200" b="0" i="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8.26912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8.85515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10.4036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610123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i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Fatigue life (years)</a:t>
                      </a:r>
                      <a:endParaRPr lang="ko-KR" altLang="en-US" sz="1200" i="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839896"/>
                  </a:ext>
                </a:extLst>
              </a:tr>
              <a:tr h="2682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Minimum film thickness (</a:t>
                      </a:r>
                      <a:r>
                        <a:rPr lang="el-GR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μ</a:t>
                      </a:r>
                      <a:r>
                        <a:rPr lang="en-US" altLang="ko-KR" sz="1200" i="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m)</a:t>
                      </a:r>
                      <a:endParaRPr lang="ko-KR" altLang="en-US" sz="1200" i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0.446721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0.600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64126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9DABF0A8-F60D-3809-38A7-FE21FE278642}"/>
              </a:ext>
            </a:extLst>
          </p:cNvPr>
          <p:cNvSpPr txBox="1"/>
          <p:nvPr/>
        </p:nvSpPr>
        <p:spPr>
          <a:xfrm>
            <a:off x="279400" y="4255368"/>
            <a:ext cx="704528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u="sng">
                <a:solidFill>
                  <a:srgbClr val="00B050"/>
                </a:solidFill>
                <a:latin typeface="+mj-ea"/>
                <a:cs typeface="Times New Roman" panose="02020603050405020304" pitchFamily="18" charset="0"/>
              </a:rPr>
              <a:t>성능</a:t>
            </a:r>
            <a:endParaRPr lang="ko-KR" altLang="en-US" sz="1400" b="1" u="sng" dirty="0">
              <a:solidFill>
                <a:srgbClr val="00B050"/>
              </a:solidFill>
              <a:latin typeface="+mj-ea"/>
              <a:cs typeface="Times New Roman" panose="02020603050405020304" pitchFamily="18" charset="0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6B9CCD8-1509-90FE-284E-46C67E15ABBB}"/>
              </a:ext>
            </a:extLst>
          </p:cNvPr>
          <p:cNvSpPr/>
          <p:nvPr/>
        </p:nvSpPr>
        <p:spPr>
          <a:xfrm>
            <a:off x="774700" y="5410200"/>
            <a:ext cx="317500" cy="330200"/>
          </a:xfrm>
          <a:prstGeom prst="rightArrow">
            <a:avLst/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B5DB1-EDED-FD64-F92E-ED64C96C4228}"/>
              </a:ext>
            </a:extLst>
          </p:cNvPr>
          <p:cNvSpPr txBox="1"/>
          <p:nvPr/>
        </p:nvSpPr>
        <p:spPr>
          <a:xfrm>
            <a:off x="1195884" y="5369272"/>
            <a:ext cx="6768752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>
                <a:latin typeface="+mj-ea"/>
                <a:cs typeface="Times New Roman" panose="02020603050405020304" pitchFamily="18" charset="0"/>
              </a:rPr>
              <a:t>형상은 </a:t>
            </a:r>
            <a:r>
              <a:rPr lang="en-US" altLang="ko-KR" sz="1400">
                <a:latin typeface="+mj-ea"/>
                <a:cs typeface="Times New Roman" panose="02020603050405020304" pitchFamily="18" charset="0"/>
              </a:rPr>
              <a:t>6/29 MASTA </a:t>
            </a:r>
            <a:r>
              <a:rPr lang="ko-KR" altLang="en-US" sz="1400">
                <a:latin typeface="+mj-ea"/>
                <a:cs typeface="Times New Roman" panose="02020603050405020304" pitchFamily="18" charset="0"/>
              </a:rPr>
              <a:t>활용 확인 예정</a:t>
            </a:r>
            <a:endParaRPr lang="ko-KR" altLang="en-US" sz="1400" dirty="0">
              <a:latin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1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6BE89-41F0-A862-0EC2-F1367A77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0DF9A07-C400-F2A5-B5BC-04666F79B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 </a:t>
            </a:r>
            <a:fld id="{29749284-F5CD-4E7E-9208-89096DB514C1}" type="slidenum">
              <a:rPr lang="ko-KR" altLang="en-US" smtClean="0"/>
              <a:pPr/>
              <a:t>9</a:t>
            </a:fld>
            <a:r>
              <a:rPr lang="ko-KR" altLang="en-US"/>
              <a:t> </a:t>
            </a:r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DB989F8-19CE-4E0F-257A-0FE9F250B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향후 계획</a:t>
            </a:r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5FA07D-2848-6173-6890-7BDDB6A871CD}"/>
              </a:ext>
            </a:extLst>
          </p:cNvPr>
          <p:cNvSpPr txBox="1"/>
          <p:nvPr/>
        </p:nvSpPr>
        <p:spPr>
          <a:xfrm>
            <a:off x="288032" y="836712"/>
            <a:ext cx="9417496" cy="3362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>
                <a:latin typeface="+mj-ea"/>
                <a:cs typeface="Times New Roman" panose="02020603050405020304" pitchFamily="18" charset="0"/>
              </a:rPr>
              <a:t>기하 불확실성 정보 탐색</a:t>
            </a:r>
            <a:endParaRPr lang="en-US" altLang="ko-KR" b="1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b="1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b="1">
                <a:latin typeface="+mj-ea"/>
                <a:cs typeface="Times New Roman" panose="02020603050405020304" pitchFamily="18" charset="0"/>
              </a:rPr>
              <a:t>최적화 방법별 성능 비교 </a:t>
            </a:r>
            <a:r>
              <a:rPr lang="en-US" altLang="ko-KR" b="1">
                <a:latin typeface="+mj-ea"/>
                <a:cs typeface="Times New Roman" panose="02020603050405020304" pitchFamily="18" charset="0"/>
              </a:rPr>
              <a:t>(GA, NSGA, Pattern search, Bayesian optimization, ...)</a:t>
            </a:r>
            <a:endParaRPr lang="en-US" altLang="ko-KR" b="1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b="1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b="1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b="1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b="1" dirty="0">
              <a:latin typeface="+mj-ea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b="1" dirty="0">
              <a:latin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850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50000"/>
          </a:lnSpc>
          <a:defRPr sz="1400" dirty="0" smtClean="0">
            <a:latin typeface="+mj-ea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프레젠테이션1" id="{B8870906-A458-4EFE-AF96-F3EDF60E63E0}" vid="{E1995674-5E6C-454F-9F87-CCA6B6D238B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2021</Template>
  <TotalTime>13391</TotalTime>
  <Words>1244</Words>
  <Application>Microsoft Office PowerPoint</Application>
  <PresentationFormat>A4 용지(210x297mm)</PresentationFormat>
  <Paragraphs>339</Paragraphs>
  <Slides>9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9" baseType="lpstr">
      <vt:lpstr>HY헤드라인M</vt:lpstr>
      <vt:lpstr>맑은 고딕</vt:lpstr>
      <vt:lpstr>Arial</vt:lpstr>
      <vt:lpstr>Calibri</vt:lpstr>
      <vt:lpstr>Calibri Light</vt:lpstr>
      <vt:lpstr>Cambria Math</vt:lpstr>
      <vt:lpstr>Times New Roman</vt:lpstr>
      <vt:lpstr>Wingdings</vt:lpstr>
      <vt:lpstr>Office 테마</vt:lpstr>
      <vt:lpstr>MathType 7.0 Equation</vt:lpstr>
      <vt:lpstr>TRB 설계변수 정의</vt:lpstr>
      <vt:lpstr>TRB 최적설계 문제 정식화</vt:lpstr>
      <vt:lpstr>TRB 최적설계 문제 정식화</vt:lpstr>
      <vt:lpstr>Volume 계산법</vt:lpstr>
      <vt:lpstr>추가된 제약조건</vt:lpstr>
      <vt:lpstr>최적설계 결과 – Load Case B</vt:lpstr>
      <vt:lpstr>최적설계 결과 – Fatigue Load Spectrum</vt:lpstr>
      <vt:lpstr>최적설계 결과 – Fatigue Load Spectrum</vt:lpstr>
      <vt:lpstr>향후 계획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 – SPUR GEAR DESIGN</dc:title>
  <dc:creator>sckim</dc:creator>
  <cp:lastModifiedBy>송병욱</cp:lastModifiedBy>
  <cp:revision>653</cp:revision>
  <dcterms:created xsi:type="dcterms:W3CDTF">2021-09-08T04:40:19Z</dcterms:created>
  <dcterms:modified xsi:type="dcterms:W3CDTF">2026-06-26T07:01:00Z</dcterms:modified>
</cp:coreProperties>
</file>